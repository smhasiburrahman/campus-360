
<file path=[Content_Types].xml><?xml version="1.0" encoding="utf-8"?>
<Types xmlns="http://schemas.openxmlformats.org/package/2006/content-types">
  <Default Extension="png" ContentType="image/png"/>
  <Default Extension="gif" ContentType="image/gi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6"/>
  </p:notesMasterIdLst>
  <p:sldIdLst>
    <p:sldId id="284" r:id="rId4"/>
    <p:sldId id="257" r:id="rId5"/>
    <p:sldId id="259" r:id="rId7"/>
    <p:sldId id="260" r:id="rId8"/>
    <p:sldId id="282" r:id="rId9"/>
    <p:sldId id="261" r:id="rId10"/>
    <p:sldId id="292" r:id="rId11"/>
    <p:sldId id="283" r:id="rId12"/>
    <p:sldId id="262" r:id="rId13"/>
    <p:sldId id="263" r:id="rId14"/>
    <p:sldId id="264" r:id="rId15"/>
    <p:sldId id="286" r:id="rId16"/>
    <p:sldId id="265" r:id="rId17"/>
    <p:sldId id="287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88" r:id="rId26"/>
    <p:sldId id="274" r:id="rId27"/>
    <p:sldId id="275" r:id="rId28"/>
    <p:sldId id="276" r:id="rId29"/>
    <p:sldId id="277" r:id="rId30"/>
    <p:sldId id="278" r:id="rId31"/>
    <p:sldId id="280" r:id="rId32"/>
    <p:sldId id="290" r:id="rId33"/>
    <p:sldId id="281" r:id="rId34"/>
    <p:sldId id="291" r:id="rId35"/>
  </p:sldIdLst>
  <p:sldSz cx="9144000" cy="5143500"/>
  <p:notesSz cx="6858000" cy="9144000"/>
  <p:embeddedFontLst>
    <p:embeddedFont>
      <p:font typeface="Calibri" panose="020F0502020204030204" charset="0"/>
      <p:regular r:id="rId39"/>
      <p:bold r:id="rId40"/>
      <p:italic r:id="rId41"/>
      <p:boldItalic r:id="rId42"/>
    </p:embeddedFont>
    <p:embeddedFont>
      <p:font typeface="Oswald"/>
      <p:regular r:id="rId43"/>
      <p:bold r:id="rId44"/>
    </p:embeddedFont>
    <p:embeddedFont>
      <p:font typeface="Cambria" panose="02040503050406030204" charset="0"/>
      <p:regular r:id="rId45"/>
      <p:bold r:id="rId46"/>
      <p:italic r:id="rId47"/>
      <p:boldItalic r:id="rId48"/>
    </p:embeddedFont>
    <p:embeddedFont>
      <p:font typeface="Average"/>
      <p:regular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9" Type="http://schemas.openxmlformats.org/officeDocument/2006/relationships/font" Target="fonts/font11.fntdata"/><Relationship Id="rId48" Type="http://schemas.openxmlformats.org/officeDocument/2006/relationships/font" Target="fonts/font10.fntdata"/><Relationship Id="rId47" Type="http://schemas.openxmlformats.org/officeDocument/2006/relationships/font" Target="fonts/font9.fntdata"/><Relationship Id="rId46" Type="http://schemas.openxmlformats.org/officeDocument/2006/relationships/font" Target="fonts/font8.fntdata"/><Relationship Id="rId45" Type="http://schemas.openxmlformats.org/officeDocument/2006/relationships/font" Target="fonts/font7.fntdata"/><Relationship Id="rId44" Type="http://schemas.openxmlformats.org/officeDocument/2006/relationships/font" Target="fonts/font6.fntdata"/><Relationship Id="rId43" Type="http://schemas.openxmlformats.org/officeDocument/2006/relationships/font" Target="fonts/font5.fntdata"/><Relationship Id="rId42" Type="http://schemas.openxmlformats.org/officeDocument/2006/relationships/font" Target="fonts/font4.fntdata"/><Relationship Id="rId41" Type="http://schemas.openxmlformats.org/officeDocument/2006/relationships/font" Target="fonts/font3.fntdata"/><Relationship Id="rId40" Type="http://schemas.openxmlformats.org/officeDocument/2006/relationships/font" Target="fonts/font2.fntdata"/><Relationship Id="rId4" Type="http://schemas.openxmlformats.org/officeDocument/2006/relationships/slide" Target="slides/slide1.xml"/><Relationship Id="rId39" Type="http://schemas.openxmlformats.org/officeDocument/2006/relationships/font" Target="fonts/font1.fntdata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b5c1d3055b_0_59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2b5c1d3055b_0_5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b9b4346e95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11" name="Google Shape;311;g2b9b4346e95_0_9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95d13ebab_0_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18" name="Google Shape;318;g2695d13ebab_0_22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c7aaf11c2a_0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25" name="Google Shape;325;g2c7aaf11c2a_0_4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c7aaf11c2a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32" name="Google Shape;332;g2c7aaf11c2a_0_10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c7aaf11c2a_0_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40" name="Google Shape;340;g2c7aaf11c2a_0_17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c7aaf11c2a_0_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48" name="Google Shape;348;g2c7aaf11c2a_0_24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c7aaf11c2a_0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55" name="Google Shape;355;g2c7aaf11c2a_0_38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c7aaf11c2a_0_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63" name="Google Shape;363;g2c7aaf11c2a_0_50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c7aaf11c2a_0_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72" name="Google Shape;372;g2c7aaf11c2a_0_62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c7aaf11c2a_0_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80" name="Google Shape;380;g2c7aaf11c2a_0_76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6cec825bc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88" name="Google Shape;388;g26cec825bcc_0_0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6cec825bcc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96" name="Google Shape;396;g26cec825bcc_0_15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6cedb03751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05" name="Google Shape;405;g26cedb03751_0_0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6cedb03751_0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13" name="Google Shape;413;g26cedb03751_0_11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6cedb03751_0_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28" name="Google Shape;428;g26cedb03751_0_39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6cedb03751_0_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36" name="Google Shape;436;g26cedb03751_0_47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6cedb03751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44" name="Google Shape;444;g26cedb03751_0_56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6cedb03751_0_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52" name="Google Shape;452;g26cedb03751_0_95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6cedb03751_0_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60" name="Google Shape;460;g26cedb03751_0_66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6cedb03751_0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76" name="Google Shape;476;g26cedb03751_0_86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6cedb03751_0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76" name="Google Shape;476;g26cedb03751_0_86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b5ccd29d25_0_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b5ccd29d25_0_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2504" cy="33944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200150"/>
            <a:ext cx="4032504" cy="33944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5293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8" Type="http://schemas.openxmlformats.org/officeDocument/2006/relationships/theme" Target="../theme/theme2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" Type="http://schemas.openxmlformats.org/officeDocument/2006/relationships/slideLayout" Target="../slideLayouts/slideLayout14.xml"/><Relationship Id="rId29" Type="http://schemas.openxmlformats.org/officeDocument/2006/relationships/slideLayout" Target="../slideLayouts/slideLayout40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050"/>
            </a:lvl1pPr>
          </a:lstStyle>
          <a:p>
            <a:pPr lvl="0"/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50"/>
            </a:lvl1pPr>
          </a:lstStyle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5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</p:sldLayoutIdLst>
  <p:hf hdr="0" dt="0"/>
  <p:txStyles>
    <p:titleStyle>
      <a:lvl1pPr marL="0" lvl="0" indent="0" algn="ctr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3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7175" lvl="0" indent="-257175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57530" lvl="1" indent="-213995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–"/>
        <a:defRPr sz="21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lvl="2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•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lvl="3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–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43050" lvl="4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lvl="5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8850" lvl="6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1750" lvl="7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4650" lvl="8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685800" lvl="2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028700" lvl="3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371600" lvl="4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714500" lvl="5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057400" lvl="6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2400300" lvl="7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2743200" lvl="8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6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0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1.xml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2.xml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21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4.xml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47.xml"/><Relationship Id="rId7" Type="http://schemas.openxmlformats.org/officeDocument/2006/relationships/hyperlink" Target="https://uxdesign.cc/ux-psychology-principles-seven-fundamental-design-principles-39c420a05f84" TargetMode="External"/><Relationship Id="rId6" Type="http://schemas.openxmlformats.org/officeDocument/2006/relationships/hyperlink" Target="https://www.skyscanner.net/" TargetMode="External"/><Relationship Id="rId5" Type="http://schemas.openxmlformats.org/officeDocument/2006/relationships/hyperlink" Target="https://www.chameleon.io/inspiration/slack-product-tour-tooltips" TargetMode="External"/><Relationship Id="rId4" Type="http://schemas.openxmlformats.org/officeDocument/2006/relationships/hyperlink" Target="https://www.linkedin.com/pulse/creating-consistency-ui-design-manjesh-yadav-" TargetMode="External"/><Relationship Id="rId3" Type="http://schemas.openxmlformats.org/officeDocument/2006/relationships/hyperlink" Target="https://yellowchalk.com/blog/8-golden-rules-of-interface-design/" TargetMode="External"/><Relationship Id="rId2" Type="http://schemas.openxmlformats.org/officeDocument/2006/relationships/hyperlink" Target="https://www.uxmatters.com/mt/archives/2022/10/applying-the-8-golden-rules-of-user-interface-design.php" TargetMode="External"/><Relationship Id="rId1" Type="http://schemas.openxmlformats.org/officeDocument/2006/relationships/hyperlink" Target="https://morioh.com/a/42dc6d4ad6a5/user-interface-design-ui-in-software-engineering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solidFill>
            <a:srgbClr val="FF9100"/>
          </a:solidFill>
          <a:ln w="76200">
            <a:solidFill>
              <a:schemeClr val="tx1"/>
            </a:solidFill>
          </a:ln>
        </p:spPr>
        <p:txBody>
          <a:bodyPr anchor="ctr" anchorCtr="0">
            <a:normAutofit/>
          </a:bodyPr>
          <a:p>
            <a:pPr algn="ctr" fontAlgn="ctr">
              <a:lnSpc>
                <a:spcPct val="90000"/>
              </a:lnSpc>
            </a:pPr>
            <a:r>
              <a:rPr lang="en-US" sz="4400" b="1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charset="0"/>
                <a:ea typeface="Arial" panose="020B0604020202020204"/>
                <a:cs typeface="Calibri" panose="020F0502020204030204" charset="0"/>
                <a:sym typeface="Arial" panose="020B0604020202020204"/>
              </a:rPr>
              <a:t>UI / UX Design Principle</a:t>
            </a:r>
            <a:endParaRPr lang="en-US" sz="4400" b="1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charset="0"/>
              <a:ea typeface="Arial" panose="020B0604020202020204"/>
              <a:cs typeface="Calibri" panose="020F0502020204030204" charset="0"/>
              <a:sym typeface="Arial" panose="020B0604020202020204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088231" y="2632710"/>
            <a:ext cx="6858000" cy="990124"/>
          </a:xfrm>
        </p:spPr>
        <p:txBody>
          <a:bodyPr>
            <a:noAutofit/>
          </a:bodyPr>
          <a:p>
            <a:endParaRPr lang="en-US" sz="1050">
              <a:solidFill>
                <a:schemeClr val="tx1"/>
              </a:solidFill>
            </a:endParaRPr>
          </a:p>
          <a:p>
            <a:r>
              <a:rPr lang="en-US" sz="2100">
                <a:solidFill>
                  <a:schemeClr val="tx1"/>
                </a:solidFill>
              </a:rPr>
              <a:t>System Analysis and Design</a:t>
            </a:r>
            <a:endParaRPr lang="en-US" sz="2100">
              <a:solidFill>
                <a:schemeClr val="tx1"/>
              </a:solidFill>
            </a:endParaRPr>
          </a:p>
          <a:p>
            <a:r>
              <a:rPr lang="en-US" sz="2100">
                <a:solidFill>
                  <a:schemeClr val="tx1"/>
                </a:solidFill>
              </a:rPr>
              <a:t>Final Content  02</a:t>
            </a:r>
            <a:endParaRPr lang="en-US" sz="210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z="790"/>
              <a:t>Tasmin Sanjida, Lecturer, CSE, UIU</a:t>
            </a:r>
            <a:endParaRPr lang="en-US" sz="79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fld id="{9B618960-8005-486C-9A75-10CB2AAC16F9}" type="slidenum">
              <a:rPr lang="en-US" sz="790" smtClean="0"/>
            </a:fld>
            <a:endParaRPr lang="en-US" sz="79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29333"/>
          <a:stretch>
            <a:fillRect/>
          </a:stretch>
        </p:blipFill>
        <p:spPr>
          <a:xfrm>
            <a:off x="0" y="2876550"/>
            <a:ext cx="1664494" cy="23555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01" name="Google Shape;301;p29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SDLC Steps 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308" name="Google Shape;308;p30"/>
          <p:cNvPicPr preferRelativeResize="0"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5108575" y="1472565"/>
            <a:ext cx="3578225" cy="247586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02" name="Google Shape;302;p29"/>
          <p:cNvSpPr txBox="1"/>
          <p:nvPr>
            <p:ph sz="half" idx="2"/>
          </p:nvPr>
        </p:nvSpPr>
        <p:spPr>
          <a:xfrm>
            <a:off x="457200" y="1189355"/>
            <a:ext cx="4650740" cy="3429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Idea Generation (optional)</a:t>
            </a:r>
            <a:endParaRPr sz="20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3810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Planning</a:t>
            </a:r>
            <a:endParaRPr sz="20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3810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System Information/Requirement Gathering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3810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Analysis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3810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</a:pP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Design</a:t>
            </a:r>
            <a:endParaRPr sz="2000">
              <a:solidFill>
                <a:srgbClr val="93C47D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3810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Development/Construction/Coding</a:t>
            </a:r>
            <a:endParaRPr sz="20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3810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Testing</a:t>
            </a:r>
            <a:endParaRPr sz="20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3810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Deployment</a:t>
            </a:r>
            <a:endParaRPr sz="20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3810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Post–Implementation &amp; Maintenance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 txBox="1"/>
          <p:nvPr>
            <p:ph type="title"/>
          </p:nvPr>
        </p:nvSpPr>
        <p:spPr>
          <a:xfrm>
            <a:off x="311785" y="324485"/>
            <a:ext cx="8520430" cy="8280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UI Design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14" name="Google Shape;314;p3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001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User Interface is the </a:t>
            </a:r>
            <a:r>
              <a:rPr lang="en-GB" sz="24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front-end application view</a:t>
            </a: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to which the </a:t>
            </a:r>
            <a:r>
              <a:rPr lang="en-GB" sz="24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user interacts</a:t>
            </a: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to use the software.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191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Can be</a:t>
            </a:r>
            <a:r>
              <a:rPr lang="en-GB" sz="2400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</a:t>
            </a:r>
            <a:r>
              <a:rPr lang="en-GB" sz="24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graphical user interface</a:t>
            </a: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or other forms, such as voice-controlled interfaces or command-line interfaces.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15" name="Google Shape;315;p31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/>
          <p:nvPr>
            <p:ph type="title"/>
          </p:nvPr>
        </p:nvSpPr>
        <p:spPr>
          <a:xfrm>
            <a:off x="311785" y="217170"/>
            <a:ext cx="8520430" cy="82296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Steps of UI Design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21" name="Google Shape;321;p32"/>
          <p:cNvSpPr txBox="1"/>
          <p:nvPr>
            <p:ph type="body" idx="1"/>
          </p:nvPr>
        </p:nvSpPr>
        <p:spPr>
          <a:xfrm>
            <a:off x="311700" y="835610"/>
            <a:ext cx="8178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Light"/>
              <a:buAutoNum type="arabicPeriod"/>
            </a:pPr>
            <a:r>
              <a:rPr lang="en-GB" sz="24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Planning </a:t>
            </a: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– </a:t>
            </a:r>
            <a:r>
              <a:rPr lang="en-GB" sz="22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Understand the customer’s requirements; Benchmark Analysis; Set the theme and navigation</a:t>
            </a:r>
            <a:endParaRPr sz="22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Light"/>
              <a:buAutoNum type="arabicPeriod"/>
            </a:pPr>
            <a:r>
              <a:rPr lang="en-GB" sz="24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Prototyping &amp; Sketching</a:t>
            </a: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– </a:t>
            </a:r>
            <a:r>
              <a:rPr lang="en-GB" sz="22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Use tools such as Figma, Canva, Proto.io, etc, to create rough demo</a:t>
            </a:r>
            <a:endParaRPr sz="22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Light"/>
              <a:buAutoNum type="arabicPeriod"/>
            </a:pPr>
            <a:r>
              <a:rPr lang="en-GB" sz="24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Optimization</a:t>
            </a: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– </a:t>
            </a:r>
            <a:r>
              <a:rPr lang="en-GB" sz="22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Investigate and analyze to make the prototypes more efficient</a:t>
            </a:r>
            <a:endParaRPr sz="22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Light"/>
              <a:buAutoNum type="arabicPeriod"/>
            </a:pPr>
            <a:r>
              <a:rPr lang="en-GB" sz="24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Implement</a:t>
            </a: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– </a:t>
            </a:r>
            <a:r>
              <a:rPr lang="en-GB" sz="2200"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Finalize the prototype based on feedback and implement</a:t>
            </a:r>
            <a:endParaRPr sz="22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22" name="Google Shape;322;p32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9100"/>
          </a:solidFill>
          <a:ln>
            <a:solidFill>
              <a:srgbClr val="000000">
                <a:alpha val="0"/>
              </a:srgbClr>
            </a:solidFill>
          </a:ln>
        </p:spPr>
        <p:txBody>
          <a:bodyPr anchor="ctr" anchorCtr="0"/>
          <a:p>
            <a:r>
              <a:rPr lang="en-US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Is it a good UI?</a:t>
            </a:r>
            <a:endParaRPr lang="en-US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457200" y="1273810"/>
            <a:ext cx="4267200" cy="295338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72990" y="1516380"/>
            <a:ext cx="3869690" cy="261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/>
          <p:nvPr>
            <p:ph type="title"/>
          </p:nvPr>
        </p:nvSpPr>
        <p:spPr>
          <a:xfrm>
            <a:off x="311785" y="287655"/>
            <a:ext cx="8520430" cy="920115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Rules of UI Diagram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28" name="Google Shape;328;p33"/>
          <p:cNvSpPr txBox="1"/>
          <p:nvPr>
            <p:ph type="body" idx="1"/>
          </p:nvPr>
        </p:nvSpPr>
        <p:spPr>
          <a:xfrm>
            <a:off x="311700" y="932130"/>
            <a:ext cx="8178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There are quite a few set of rules created by different people that address the best practices and requirements of UI Design, such as </a:t>
            </a:r>
            <a:endParaRPr lang="en-GB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GB" sz="24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Three Golden Rules</a:t>
            </a:r>
            <a:endParaRPr lang="en-GB" sz="2400" b="1"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GB" sz="24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Shneiderman’s Eight Golden Rules </a:t>
            </a:r>
            <a:endParaRPr lang="en-GB" sz="2400" b="1"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GB" sz="24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Norman’s Design Principles</a:t>
            </a:r>
            <a:endParaRPr lang="en-GB" sz="2400" b="1"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29" name="Google Shape;329;p33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/>
          <p:nvPr/>
        </p:nvPicPr>
        <p:blipFill>
          <a:blip r:embed="rId1"/>
          <a:stretch>
            <a:fillRect/>
          </a:stretch>
        </p:blipFill>
        <p:spPr>
          <a:xfrm>
            <a:off x="5222240" y="904240"/>
            <a:ext cx="3921760" cy="273685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13715" y="1861185"/>
            <a:ext cx="5229225" cy="1305560"/>
          </a:xfrm>
          <a:solidFill>
            <a:srgbClr val="FF9100"/>
          </a:solidFill>
          <a:ln w="38100">
            <a:solidFill>
              <a:schemeClr val="tx1"/>
            </a:solidFill>
          </a:ln>
        </p:spPr>
        <p:txBody>
          <a:bodyPr anchor="ctr" anchorCtr="0"/>
          <a:p>
            <a:pPr fontAlgn="ctr"/>
            <a:r>
              <a:rPr lang="en-GB" sz="4000" b="1">
                <a:solidFill>
                  <a:schemeClr val="bg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Three Golden Rules</a:t>
            </a:r>
            <a:endParaRPr lang="en-GB" sz="4000" b="1">
              <a:solidFill>
                <a:schemeClr val="bg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12420" y="1200150"/>
            <a:ext cx="8374380" cy="3394710"/>
          </a:xfrm>
        </p:spPr>
        <p:txBody>
          <a:bodyPr/>
          <a:p>
            <a:pPr marL="457200" indent="-457200">
              <a:buFont typeface="+mj-lt"/>
              <a:buAutoNum type="arabicPeriod"/>
            </a:pPr>
            <a:r>
              <a:rPr lang="en-GB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Place Users In Control</a:t>
            </a:r>
            <a:endParaRPr lang="en-GB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  <a:sym typeface="+mn-ea"/>
              </a:rPr>
              <a:t>Reduce Users’ Memory Load</a:t>
            </a:r>
            <a:endParaRPr lang="en-US" altLang="en-US" sz="240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Make the interface consistent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GB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334" name="Google Shape;334;p34"/>
          <p:cNvSpPr txBox="1"/>
          <p:nvPr/>
        </p:nvSpPr>
        <p:spPr>
          <a:xfrm>
            <a:off x="311785" y="185420"/>
            <a:ext cx="8520430" cy="854710"/>
          </a:xfrm>
          <a:prstGeom prst="rect">
            <a:avLst/>
          </a:prstGeom>
          <a:solidFill>
            <a:srgbClr val="FF9100"/>
          </a:solidFill>
          <a:ln w="28575"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lvl1pPr marL="0" lvl="0" indent="0" algn="ctr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3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Three Golden Rules of UI Design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/>
          <p:nvPr>
            <p:ph type="title"/>
          </p:nvPr>
        </p:nvSpPr>
        <p:spPr>
          <a:xfrm>
            <a:off x="311785" y="185420"/>
            <a:ext cx="8520430" cy="854710"/>
          </a:xfrm>
          <a:prstGeom prst="rect">
            <a:avLst/>
          </a:prstGeom>
          <a:solidFill>
            <a:srgbClr val="FF9100"/>
          </a:solidFill>
          <a:ln w="28575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Three Golden Rules of UI Design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36" name="Google Shape;336;p34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40995" y="1206500"/>
            <a:ext cx="8491220" cy="3656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24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1. </a:t>
            </a:r>
            <a:r>
              <a:rPr lang="en-GB" sz="24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Place Users In Control</a:t>
            </a:r>
            <a:endParaRPr lang="en-GB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1.1. Modeless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1.2. Flexibility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1.3. Interruptible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1.4. Helpful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1.5. Forgiving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1.6. Navigable</a:t>
            </a:r>
            <a:br>
              <a:rPr lang="en-US" altLang="en-US" sz="200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1.7. Accessible</a:t>
            </a:r>
            <a:br>
              <a:rPr lang="en-US" altLang="en-US" sz="200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1.8. Facilitative</a:t>
            </a:r>
            <a:br>
              <a:rPr lang="en-US" altLang="en-US" sz="200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1.9. Preferences</a:t>
            </a:r>
            <a:br>
              <a:rPr lang="en-US" altLang="en-US" sz="200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1.10. Interactive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34" name="Google Shape;334;p34"/>
          <p:cNvSpPr txBox="1"/>
          <p:nvPr>
            <p:ph type="title"/>
          </p:nvPr>
        </p:nvSpPr>
        <p:spPr>
          <a:xfrm>
            <a:off x="311785" y="185420"/>
            <a:ext cx="8520430" cy="854710"/>
          </a:xfrm>
          <a:prstGeom prst="rect">
            <a:avLst/>
          </a:prstGeom>
          <a:solidFill>
            <a:srgbClr val="FF9100"/>
          </a:solidFill>
          <a:ln w="28575"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Three Golden Rules of UI Design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94005" y="1144270"/>
            <a:ext cx="858583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4" indent="0" algn="ctr">
              <a:buNone/>
            </a:pPr>
            <a:r>
              <a:rPr lang="en-US" altLang="en-US" sz="2400" b="1">
                <a:latin typeface="Calibri" panose="020F0502020204030204" charset="0"/>
                <a:cs typeface="Calibri" panose="020F0502020204030204" charset="0"/>
              </a:rPr>
              <a:t>2.Reduce Users’ Memory Load</a:t>
            </a:r>
            <a:endParaRPr lang="en-US" altLang="en-US" sz="2400" b="1">
              <a:latin typeface="Calibri" panose="020F0502020204030204" charset="0"/>
              <a:cs typeface="Calibri" panose="020F0502020204030204" charset="0"/>
            </a:endParaRPr>
          </a:p>
          <a:p>
            <a:pPr marL="0" lvl="4" indent="0">
              <a:buNone/>
            </a:pPr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2.1. Relieve short-term memory</a:t>
            </a:r>
            <a:br>
              <a:rPr lang="en-US" altLang="en-US" sz="200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2.2. Rely on recognition, not recall</a:t>
            </a:r>
            <a:br>
              <a:rPr lang="en-US" altLang="en-US" sz="200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2.3. Provide visual cues</a:t>
            </a:r>
            <a:br>
              <a:rPr lang="en-US" altLang="en-US" sz="200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2.4. Forgiving</a:t>
            </a:r>
            <a:br>
              <a:rPr lang="en-US" altLang="en-US" sz="200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2.5. Frequency 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pPr marL="0" lvl="4" indent="0">
              <a:buNone/>
            </a:pPr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2.6 Promote an object-action syntax</a:t>
            </a:r>
            <a:br>
              <a:rPr lang="en-US" altLang="en-US" sz="200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2.7. Use real-world metaphors</a:t>
            </a:r>
            <a:br>
              <a:rPr lang="en-US" altLang="en-US" sz="200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2.8. User progressive disclosure</a:t>
            </a:r>
            <a:br>
              <a:rPr lang="en-US" altLang="en-US" sz="200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2.9. Organize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/>
          <p:cNvSpPr txBox="1"/>
          <p:nvPr>
            <p:ph type="body" idx="1"/>
          </p:nvPr>
        </p:nvSpPr>
        <p:spPr>
          <a:xfrm>
            <a:off x="83100" y="1152475"/>
            <a:ext cx="76053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GB" sz="24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3. </a:t>
            </a:r>
            <a:r>
              <a:rPr lang="en-GB" sz="24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Make the interface consistent</a:t>
            </a:r>
            <a:endParaRPr lang="en-GB" sz="2400" b="1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3.1. Continuity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3.2. Maintain consistency within and across products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3.3. Keep interaction results the same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3.4. Provide aesthetic appeal and integrity</a:t>
            </a:r>
            <a:b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3.5. Encourage exploration</a:t>
            </a: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52" name="Google Shape;352;p36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34" name="Google Shape;334;p34"/>
          <p:cNvSpPr txBox="1"/>
          <p:nvPr>
            <p:ph type="title"/>
          </p:nvPr>
        </p:nvSpPr>
        <p:spPr>
          <a:xfrm>
            <a:off x="311785" y="185420"/>
            <a:ext cx="8520430" cy="854710"/>
          </a:xfrm>
          <a:prstGeom prst="rect">
            <a:avLst/>
          </a:prstGeom>
          <a:solidFill>
            <a:srgbClr val="FF9100"/>
          </a:solidFill>
          <a:ln w="28575"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Three Golden Rules of UI Design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43000" y="1067197"/>
            <a:ext cx="6858000" cy="1790700"/>
          </a:xfrm>
          <a:solidFill>
            <a:srgbClr val="FF9100"/>
          </a:solidFill>
          <a:ln w="76200">
            <a:solidFill>
              <a:schemeClr val="tx1"/>
            </a:solidFill>
          </a:ln>
        </p:spPr>
        <p:txBody>
          <a:bodyPr anchor="ctr" anchorCtr="0">
            <a:normAutofit/>
          </a:bodyPr>
          <a:p>
            <a:pPr algn="ctr" fontAlgn="ctr">
              <a:lnSpc>
                <a:spcPct val="90000"/>
              </a:lnSpc>
            </a:pPr>
            <a:r>
              <a:rPr lang="en-GB" sz="4400" b="1">
                <a:solidFill>
                  <a:schemeClr val="bg1"/>
                </a:solidFill>
                <a:sym typeface="+mn-ea"/>
              </a:rPr>
              <a:t>Shneiderman’s Eight Golden Rules of UI Design</a:t>
            </a:r>
            <a:endParaRPr lang="en-GB" sz="4400" b="1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charset="0"/>
              <a:ea typeface="Arial" panose="020B0604020202020204"/>
              <a:cs typeface="Calibri" panose="020F0502020204030204" charset="0"/>
              <a:sym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z="790"/>
              <a:t>Tasmin Sanjida, Lecturer, CSE, UIU</a:t>
            </a:r>
            <a:endParaRPr lang="en-US" sz="79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fld id="{9B618960-8005-486C-9A75-10CB2AAC16F9}" type="slidenum">
              <a:rPr lang="en-US" sz="790" smtClean="0"/>
            </a:fld>
            <a:endParaRPr lang="en-US" sz="790"/>
          </a:p>
        </p:txBody>
      </p:sp>
      <p:pic>
        <p:nvPicPr>
          <p:cNvPr id="9" name="Picture 8"/>
          <p:cNvPicPr/>
          <p:nvPr/>
        </p:nvPicPr>
        <p:blipFill>
          <a:blip r:embed="rId1"/>
          <a:stretch>
            <a:fillRect/>
          </a:stretch>
        </p:blipFill>
        <p:spPr>
          <a:xfrm>
            <a:off x="6561455" y="2104390"/>
            <a:ext cx="24765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311785" y="233045"/>
            <a:ext cx="8520430" cy="807085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Shneiderman’s Eight Golden Rules of UI Design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58" name="Google Shape;358;p37"/>
          <p:cNvSpPr txBox="1"/>
          <p:nvPr>
            <p:ph type="body" idx="1"/>
          </p:nvPr>
        </p:nvSpPr>
        <p:spPr>
          <a:xfrm>
            <a:off x="311785" y="1105535"/>
            <a:ext cx="551815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1. 	</a:t>
            </a:r>
            <a:r>
              <a:rPr lang="en-GB" sz="24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Strive For Consistency</a:t>
            </a:r>
            <a:endParaRPr lang="en-GB" sz="2400" b="1"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Same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design patterns and sequences of actions in similar situations throughout an application’s workflows.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Identical terminology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should be used in prompts, menus, and help screens;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Consistent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colors, layout, capitalization, fonts, etc, should be employed throughout.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59" name="Google Shape;359;p37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60" name="Google Shape;360;p37"/>
          <p:cNvPicPr preferRelativeResize="0"/>
          <p:nvPr/>
        </p:nvPicPr>
        <p:blipFill>
          <a:blip r:embed="rId1"/>
          <a:srcRect l="16942" t="21824" r="15556" b="21566"/>
          <a:stretch>
            <a:fillRect/>
          </a:stretch>
        </p:blipFill>
        <p:spPr>
          <a:xfrm>
            <a:off x="5701665" y="1892935"/>
            <a:ext cx="3253740" cy="176593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pic>
        <p:nvPicPr>
          <p:cNvPr id="187" name="Google Shape;187;p1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65910" y="1424305"/>
            <a:ext cx="6224270" cy="268795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57;p37"/>
          <p:cNvSpPr txBox="1"/>
          <p:nvPr/>
        </p:nvSpPr>
        <p:spPr>
          <a:xfrm>
            <a:off x="311785" y="326390"/>
            <a:ext cx="8520430" cy="807085"/>
          </a:xfrm>
          <a:prstGeom prst="rect">
            <a:avLst/>
          </a:prstGeom>
          <a:solidFill>
            <a:srgbClr val="FF9100"/>
          </a:solidFill>
          <a:ln w="9525"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lvl1pPr marL="0" lvl="0" indent="0" algn="ctr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3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Shneiderman’s Eight Golden Rules of UI Design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8"/>
          <p:cNvSpPr txBox="1"/>
          <p:nvPr>
            <p:ph type="body" idx="1"/>
          </p:nvPr>
        </p:nvSpPr>
        <p:spPr>
          <a:xfrm>
            <a:off x="311150" y="1152525"/>
            <a:ext cx="4864100" cy="353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2. 	</a:t>
            </a:r>
            <a:r>
              <a:rPr lang="en-GB" sz="24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Seek Universal Usability</a:t>
            </a:r>
            <a:b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 user-interface design is good only when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all new users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can find their way through the application without any problems and can quickly achieve their goals.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Users may be of different ages or from different cultures.</a:t>
            </a:r>
            <a:r>
              <a:rPr lang="en-US" alt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Can be done by the use of navigation tips and shortcuts.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67" name="Google Shape;367;p38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68" name="Google Shape;368;p3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174615" y="1040350"/>
            <a:ext cx="3657600" cy="2057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69" name="Google Shape;369;p3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174765" y="2752688"/>
            <a:ext cx="3657601" cy="2057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3" name="Google Shape;357;p37"/>
          <p:cNvSpPr txBox="1"/>
          <p:nvPr>
            <p:ph type="title"/>
          </p:nvPr>
        </p:nvSpPr>
        <p:spPr>
          <a:xfrm>
            <a:off x="311785" y="233045"/>
            <a:ext cx="8520430" cy="807085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Shneiderman’s Eight Golden Rules of UI Design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/>
          <p:nvPr>
            <p:ph type="body" idx="1"/>
          </p:nvPr>
        </p:nvSpPr>
        <p:spPr>
          <a:xfrm>
            <a:off x="311150" y="1152525"/>
            <a:ext cx="4949825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3. 	</a:t>
            </a:r>
            <a:r>
              <a:rPr lang="en-GB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Offer Informative Feedback</a:t>
            </a:r>
            <a:endParaRPr lang="en-GB"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The design should always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keep users informed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about what is going on. Don’t keep the users guessing — </a:t>
            </a:r>
            <a:r>
              <a:rPr lang="en-GB" sz="20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tell them what’s happening.</a:t>
            </a:r>
            <a:endParaRPr sz="2000" b="1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When users know the current system status, they learn the outcome of their prior interactions and determine next steps.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Creates trust in the product and the brand.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76" name="Google Shape;376;p39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77" name="Google Shape;377;p3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344160" y="1792605"/>
            <a:ext cx="3488055" cy="213931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3" name="Google Shape;357;p37"/>
          <p:cNvSpPr txBox="1"/>
          <p:nvPr>
            <p:ph type="title"/>
          </p:nvPr>
        </p:nvSpPr>
        <p:spPr>
          <a:xfrm>
            <a:off x="311785" y="233045"/>
            <a:ext cx="8520430" cy="807085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Shneiderman’s Eight Golden Rules of UI Design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 txBox="1"/>
          <p:nvPr>
            <p:ph type="body" idx="1"/>
          </p:nvPr>
        </p:nvSpPr>
        <p:spPr>
          <a:xfrm>
            <a:off x="312420" y="1152525"/>
            <a:ext cx="4862195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4. 	</a:t>
            </a:r>
            <a:r>
              <a:rPr lang="en-GB" sz="24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Design Dialog To Yield Closure</a:t>
            </a:r>
            <a:b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</a:b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Make sure that the user sees an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appropriate message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or maybe even receives some kind of reward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at the end of a process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. 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Gives users a sense of satisfaction on completing the task.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84" name="Google Shape;384;p40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85" name="Google Shape;385;p4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316220" y="1303655"/>
            <a:ext cx="3586480" cy="290258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3" name="Google Shape;357;p37"/>
          <p:cNvSpPr txBox="1"/>
          <p:nvPr>
            <p:ph type="title"/>
          </p:nvPr>
        </p:nvSpPr>
        <p:spPr>
          <a:xfrm>
            <a:off x="311785" y="233045"/>
            <a:ext cx="8520430" cy="807085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Shneiderman’s Eight Golden Rules of UI Design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"/>
          <p:cNvSpPr txBox="1"/>
          <p:nvPr>
            <p:ph type="body" idx="1"/>
          </p:nvPr>
        </p:nvSpPr>
        <p:spPr>
          <a:xfrm>
            <a:off x="311785" y="1152525"/>
            <a:ext cx="487934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5. 	</a:t>
            </a:r>
            <a:r>
              <a:rPr lang="en-GB" sz="24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Prevent Errors</a:t>
            </a:r>
            <a:endParaRPr sz="2400"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Guide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your users through an entire process, smoothly and seamlessly.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Good error messages are important, but the best designs carefully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prevent problems from occurring in the first place.</a:t>
            </a:r>
            <a:endParaRPr lang="en-GB" sz="2000" b="1"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92" name="Google Shape;392;p41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93" name="Google Shape;393;p4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278120" y="1793240"/>
            <a:ext cx="3554095" cy="201676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3" name="Google Shape;357;p37"/>
          <p:cNvSpPr txBox="1"/>
          <p:nvPr>
            <p:ph type="title"/>
          </p:nvPr>
        </p:nvSpPr>
        <p:spPr>
          <a:xfrm>
            <a:off x="311785" y="233045"/>
            <a:ext cx="8520430" cy="807085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Shneiderman’s Eight Golden Rules of UI Design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2"/>
          <p:cNvSpPr txBox="1"/>
          <p:nvPr>
            <p:ph type="body" idx="1"/>
          </p:nvPr>
        </p:nvSpPr>
        <p:spPr>
          <a:xfrm>
            <a:off x="311785" y="1152525"/>
            <a:ext cx="493141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6. 	</a:t>
            </a:r>
            <a:r>
              <a:rPr lang="en-GB" sz="24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Permit Easy Reversal Of Actions</a:t>
            </a:r>
            <a:endParaRPr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Relieves anxiety, since the user knows that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errors can be undone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; it thus encourages exploration of unfamiliar options.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Ability to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cancel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 current action or go back and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undo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their actions.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(Back,Cancel,Close,Undo,Redo,etc)</a:t>
            </a: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400" name="Google Shape;400;p42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01" name="Google Shape;401;p4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388610" y="2867025"/>
            <a:ext cx="3443605" cy="157734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02" name="Google Shape;402;p4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388610" y="1207135"/>
            <a:ext cx="3443605" cy="15716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3" name="Google Shape;357;p37"/>
          <p:cNvSpPr txBox="1"/>
          <p:nvPr>
            <p:ph type="title"/>
          </p:nvPr>
        </p:nvSpPr>
        <p:spPr>
          <a:xfrm>
            <a:off x="311785" y="233045"/>
            <a:ext cx="8520430" cy="807085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Shneiderman’s Eight Golden Rules of UI Design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body" idx="1"/>
          </p:nvPr>
        </p:nvSpPr>
        <p:spPr>
          <a:xfrm>
            <a:off x="365125" y="1152525"/>
            <a:ext cx="458343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7. 	</a:t>
            </a:r>
            <a:r>
              <a:rPr lang="en-GB" sz="24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Let The Users Be In Control</a:t>
            </a:r>
            <a:endParaRPr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Experienced users strongly desire the sense that they are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in charge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of the interface and that the interface responds to their actions.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Give users the ability to use your application in whatever way they want to use it and enable them to 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customize the user interface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to suit their needs.</a:t>
            </a: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409" name="Google Shape;409;p43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10" name="Google Shape;410;p4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050155" y="1435100"/>
            <a:ext cx="3782060" cy="30194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3" name="Google Shape;357;p37"/>
          <p:cNvSpPr txBox="1"/>
          <p:nvPr>
            <p:ph type="title"/>
          </p:nvPr>
        </p:nvSpPr>
        <p:spPr>
          <a:xfrm>
            <a:off x="311785" y="233045"/>
            <a:ext cx="8520430" cy="807085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Shneiderman’s Eight Golden Rules of UI Design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body" idx="1"/>
          </p:nvPr>
        </p:nvSpPr>
        <p:spPr>
          <a:xfrm>
            <a:off x="311785" y="1152525"/>
            <a:ext cx="519176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8. 	</a:t>
            </a:r>
            <a:r>
              <a:rPr lang="en-GB" sz="24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Reduce Short-Term Memory Load</a:t>
            </a:r>
            <a:endParaRPr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Don’t make your users remember any information except what’s absolutely necessary.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Recognizing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something is easier than remembering it.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Use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iconography and other visual aids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such as themed coloring and consistent placement of items.</a:t>
            </a:r>
            <a:r>
              <a:rPr lang="en-US" alt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</a:t>
            </a: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Avoid requiring overly long sequences of actions.</a:t>
            </a: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417" name="Google Shape;417;p44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18" name="Google Shape;418;p4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477195" y="1230215"/>
            <a:ext cx="3417549" cy="3453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3" name="Google Shape;357;p37"/>
          <p:cNvSpPr txBox="1"/>
          <p:nvPr>
            <p:ph type="title"/>
          </p:nvPr>
        </p:nvSpPr>
        <p:spPr>
          <a:xfrm>
            <a:off x="311785" y="233045"/>
            <a:ext cx="8520430" cy="807085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Shneiderman’s Eight Golden Rules of UI Design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43000" y="1067197"/>
            <a:ext cx="6858000" cy="1790700"/>
          </a:xfrm>
          <a:solidFill>
            <a:srgbClr val="FF9100"/>
          </a:solidFill>
          <a:ln w="76200">
            <a:solidFill>
              <a:schemeClr val="tx1"/>
            </a:solidFill>
          </a:ln>
        </p:spPr>
        <p:txBody>
          <a:bodyPr anchor="ctr" anchorCtr="0">
            <a:normAutofit fontScale="90000"/>
          </a:bodyPr>
          <a:p>
            <a:pPr algn="ctr" fontAlgn="ctr">
              <a:lnSpc>
                <a:spcPct val="90000"/>
              </a:lnSpc>
            </a:pPr>
            <a:r>
              <a:rPr lang="en-GB" sz="44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Norman’s Seven Fundamental Design Principles</a:t>
            </a:r>
            <a:endParaRPr lang="en-GB" sz="4400" b="1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charset="0"/>
              <a:ea typeface="Arial" panose="020B0604020202020204"/>
              <a:cs typeface="Calibri" panose="020F0502020204030204" charset="0"/>
              <a:sym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z="790"/>
              <a:t>Tasmin Sanjida, Lecturer, CSE, UIU</a:t>
            </a:r>
            <a:endParaRPr lang="en-US" sz="79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fld id="{9B618960-8005-486C-9A75-10CB2AAC16F9}" type="slidenum">
              <a:rPr lang="en-US" sz="790" smtClean="0"/>
            </a:fld>
            <a:endParaRPr lang="en-US" sz="790"/>
          </a:p>
        </p:txBody>
      </p:sp>
      <p:pic>
        <p:nvPicPr>
          <p:cNvPr id="9" name="Picture 8"/>
          <p:cNvPicPr/>
          <p:nvPr/>
        </p:nvPicPr>
        <p:blipFill>
          <a:blip r:embed="rId1"/>
          <a:stretch>
            <a:fillRect/>
          </a:stretch>
        </p:blipFill>
        <p:spPr>
          <a:xfrm>
            <a:off x="6561455" y="2104390"/>
            <a:ext cx="24765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6"/>
          <p:cNvSpPr txBox="1"/>
          <p:nvPr>
            <p:ph type="title"/>
          </p:nvPr>
        </p:nvSpPr>
        <p:spPr>
          <a:xfrm>
            <a:off x="311785" y="294640"/>
            <a:ext cx="8520430" cy="74549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Norman’s Seven Fundamental Design Principles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31" name="Google Shape;431;p46"/>
          <p:cNvSpPr txBox="1"/>
          <p:nvPr>
            <p:ph type="body" idx="1"/>
          </p:nvPr>
        </p:nvSpPr>
        <p:spPr>
          <a:xfrm>
            <a:off x="311150" y="1410970"/>
            <a:ext cx="4457065" cy="339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GB" sz="2000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1. 	</a:t>
            </a:r>
            <a:r>
              <a:rPr lang="en-GB" sz="20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Discoverability</a:t>
            </a:r>
            <a:r>
              <a:rPr lang="en-US" altLang="en-GB" sz="20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/</a:t>
            </a:r>
            <a:r>
              <a:rPr lang="en-US" altLang="en-US" sz="20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Visibility</a:t>
            </a:r>
            <a:endParaRPr lang="en-US" altLang="en-US" sz="2000"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Determine the current state of the system and discover which actions are possible at the moment.</a:t>
            </a: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Easy to see so users know what actions are possible.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432" name="Google Shape;432;p46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33" name="Google Shape;433;p4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098415" y="1410970"/>
            <a:ext cx="3588385" cy="259207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7"/>
          <p:cNvSpPr txBox="1"/>
          <p:nvPr>
            <p:ph type="body" idx="1"/>
          </p:nvPr>
        </p:nvSpPr>
        <p:spPr>
          <a:xfrm>
            <a:off x="311785" y="1152525"/>
            <a:ext cx="445643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GB" sz="2000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2. 	</a:t>
            </a:r>
            <a:r>
              <a:rPr lang="en-GB" sz="20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Feedback</a:t>
            </a:r>
            <a:endParaRPr sz="2000"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The system should tell the user what is happening after an action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After clicking Submit, a message appears: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   “Form submitted successfully.”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When a file is uploading, a progress bar is shown.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440" name="Google Shape;440;p47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41" name="Google Shape;441;p4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937760" y="1393190"/>
            <a:ext cx="3893820" cy="312356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30" name="Google Shape;430;p46"/>
          <p:cNvSpPr txBox="1"/>
          <p:nvPr>
            <p:ph type="title"/>
          </p:nvPr>
        </p:nvSpPr>
        <p:spPr>
          <a:xfrm>
            <a:off x="311785" y="294640"/>
            <a:ext cx="8520430" cy="74549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Norman’s Seven Fundamental Design Principles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8"/>
          <p:cNvSpPr txBox="1"/>
          <p:nvPr>
            <p:ph type="body" idx="1"/>
          </p:nvPr>
        </p:nvSpPr>
        <p:spPr>
          <a:xfrm>
            <a:off x="311150" y="1152525"/>
            <a:ext cx="4457065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3. 	</a:t>
            </a:r>
            <a:r>
              <a:rPr lang="en-GB" sz="20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Conceptual Model</a:t>
            </a:r>
            <a:endParaRPr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en-US" sz="2000">
                <a:solidFill>
                  <a:schemeClr val="dk1"/>
                </a:solidFill>
                <a:highlight>
                  <a:srgbClr val="FFFF00"/>
                </a:highlight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How does this system work?</a:t>
            </a:r>
            <a:endParaRPr lang="en-US" altLang="en-US" sz="2000">
              <a:solidFill>
                <a:schemeClr val="dk1"/>
              </a:solidFill>
              <a:highlight>
                <a:srgbClr val="FFFF00"/>
              </a:highlight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</a:t>
            </a: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simple explanation or mental picture that helps users understand how a system works and what will happen when they use it.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Browse products → Add to cart → Checkout → Pay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-GB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448" name="Google Shape;448;p48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30" name="Google Shape;430;p46"/>
          <p:cNvSpPr txBox="1"/>
          <p:nvPr>
            <p:ph type="title"/>
          </p:nvPr>
        </p:nvSpPr>
        <p:spPr>
          <a:xfrm>
            <a:off x="311785" y="294640"/>
            <a:ext cx="8520430" cy="74549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Norman’s Seven Fundamental Design Principles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650" y="1296035"/>
            <a:ext cx="4461510" cy="29724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3912870" y="961390"/>
            <a:ext cx="5151120" cy="3613150"/>
          </a:xfrm>
          <a:prstGeom prst="rect">
            <a:avLst/>
          </a:prstGeom>
        </p:spPr>
      </p:pic>
      <p:sp>
        <p:nvSpPr>
          <p:cNvPr id="455" name="Google Shape;455;p49"/>
          <p:cNvSpPr txBox="1"/>
          <p:nvPr>
            <p:ph type="body" idx="1"/>
          </p:nvPr>
        </p:nvSpPr>
        <p:spPr>
          <a:xfrm>
            <a:off x="311785" y="1152525"/>
            <a:ext cx="445643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4.	</a:t>
            </a:r>
            <a:r>
              <a:rPr lang="en-GB" sz="20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Affordance</a:t>
            </a:r>
            <a:endParaRPr sz="2000"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en-US" sz="2000">
                <a:solidFill>
                  <a:schemeClr val="dk1"/>
                </a:solidFill>
                <a:highlight>
                  <a:srgbClr val="FFFF00"/>
                </a:highlight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How can I use this?</a:t>
            </a:r>
            <a:endParaRPr lang="en-US" altLang="en-US" sz="2000">
              <a:solidFill>
                <a:schemeClr val="dk1"/>
              </a:solidFill>
              <a:highlight>
                <a:srgbClr val="FFFF00"/>
              </a:highlight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An object’s perceived action and its properties should match.</a:t>
            </a:r>
            <a:r>
              <a:rPr lang="en-US" altLang="en-GB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</a:t>
            </a: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Affordance refers to how the design of an object suggests its use.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 button looks raised → user knows it can be clicked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456" name="Google Shape;456;p49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30" name="Google Shape;430;p46"/>
          <p:cNvSpPr txBox="1"/>
          <p:nvPr>
            <p:ph type="title"/>
          </p:nvPr>
        </p:nvSpPr>
        <p:spPr>
          <a:xfrm>
            <a:off x="311785" y="294640"/>
            <a:ext cx="8520430" cy="74549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Norman’s Seven Fundamental Design Principles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0"/>
          <p:cNvSpPr txBox="1"/>
          <p:nvPr>
            <p:ph type="body" idx="1"/>
          </p:nvPr>
        </p:nvSpPr>
        <p:spPr>
          <a:xfrm>
            <a:off x="311150" y="1152525"/>
            <a:ext cx="4457065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GB" sz="20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5. </a:t>
            </a:r>
            <a:r>
              <a:rPr lang="en-US" altLang="en-US" sz="20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Mapping</a:t>
            </a:r>
            <a:endParaRPr lang="en-US" altLang="en-US" sz="2000" b="1" u="sng"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There should be a clear relationship between controls and their effects.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In a music player: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▶ plays music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⏸ pauses music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464" name="Google Shape;464;p50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30" name="Google Shape;430;p46"/>
          <p:cNvSpPr txBox="1"/>
          <p:nvPr>
            <p:ph type="title"/>
          </p:nvPr>
        </p:nvSpPr>
        <p:spPr>
          <a:xfrm>
            <a:off x="311785" y="294640"/>
            <a:ext cx="8520430" cy="74549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Norman’s Seven Fundamental Design Principles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635" y="1972945"/>
            <a:ext cx="404495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2"/>
          <p:cNvSpPr txBox="1"/>
          <p:nvPr>
            <p:ph type="body" idx="1"/>
          </p:nvPr>
        </p:nvSpPr>
        <p:spPr>
          <a:xfrm>
            <a:off x="311700" y="1105485"/>
            <a:ext cx="46848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6</a:t>
            </a:r>
            <a:r>
              <a:rPr lang="en-GB" sz="2000" b="1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. 	</a:t>
            </a:r>
            <a:r>
              <a:rPr lang="en-GB" sz="20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Constraints</a:t>
            </a:r>
            <a:endParaRPr sz="2000" b="1"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The design should limit incorrect actions.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l" rtl="0">
              <a:lnSpc>
                <a:spcPct val="90000"/>
              </a:lnSpc>
              <a:spcBef>
                <a:spcPts val="1200"/>
              </a:spcBef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 date field allows only numbers.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l" rtl="0">
              <a:lnSpc>
                <a:spcPct val="90000"/>
              </a:lnSpc>
              <a:spcBef>
                <a:spcPts val="1200"/>
              </a:spcBef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 “Submit” button is disabled until all required fields are filled.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480" name="Google Shape;480;p52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81" name="Google Shape;481;p5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761230" y="1204595"/>
            <a:ext cx="4071301" cy="305347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</p:pic>
      <p:sp>
        <p:nvSpPr>
          <p:cNvPr id="430" name="Google Shape;430;p46"/>
          <p:cNvSpPr txBox="1"/>
          <p:nvPr>
            <p:ph type="title"/>
          </p:nvPr>
        </p:nvSpPr>
        <p:spPr>
          <a:xfrm>
            <a:off x="311785" y="294640"/>
            <a:ext cx="8520430" cy="74549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Norman’s Seven Fundamental Design Principles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2"/>
          <p:cNvSpPr txBox="1"/>
          <p:nvPr>
            <p:ph type="body" idx="1"/>
          </p:nvPr>
        </p:nvSpPr>
        <p:spPr>
          <a:xfrm>
            <a:off x="311700" y="1105485"/>
            <a:ext cx="46848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2000" b="1" u="sng">
                <a:solidFill>
                  <a:srgbClr val="C0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7.   Consistency</a:t>
            </a:r>
            <a:endParaRPr lang="en-US" altLang="en-US" sz="2000" b="1" u="sng">
              <a:solidFill>
                <a:srgbClr val="C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Similar actions should work in similar ways throughout the system.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All Save buttons are green across the app.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All Delete buttons are red.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480" name="Google Shape;480;p52"/>
          <p:cNvSpPr txBox="1"/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Oswald"/>
                <a:ea typeface="Oswald"/>
                <a:cs typeface="Oswald"/>
                <a:sym typeface="Oswald"/>
              </a:rPr>
            </a:fld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30" name="Google Shape;430;p46"/>
          <p:cNvSpPr txBox="1"/>
          <p:nvPr>
            <p:ph type="title"/>
          </p:nvPr>
        </p:nvSpPr>
        <p:spPr>
          <a:xfrm>
            <a:off x="311785" y="294640"/>
            <a:ext cx="8520430" cy="74549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32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Norman’s Seven Fundamental Design Principles</a:t>
            </a:r>
            <a:endParaRPr lang="en-GB" sz="32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  <p:pic>
        <p:nvPicPr>
          <p:cNvPr id="360" name="Google Shape;360;p37"/>
          <p:cNvPicPr preferRelativeResize="0"/>
          <p:nvPr/>
        </p:nvPicPr>
        <p:blipFill>
          <a:blip r:embed="rId1"/>
          <a:srcRect l="16942" t="21824" r="15556" b="21566"/>
          <a:stretch>
            <a:fillRect/>
          </a:stretch>
        </p:blipFill>
        <p:spPr>
          <a:xfrm>
            <a:off x="5489575" y="1579245"/>
            <a:ext cx="3253740" cy="176593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3"/>
          <p:cNvSpPr txBox="1"/>
          <p:nvPr>
            <p:ph type="body" idx="1"/>
          </p:nvPr>
        </p:nvSpPr>
        <p:spPr>
          <a:xfrm>
            <a:off x="83100" y="4687775"/>
            <a:ext cx="5998800" cy="42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References</a:t>
            </a:r>
            <a:endParaRPr sz="2000"/>
          </a:p>
        </p:txBody>
      </p:sp>
      <p:sp>
        <p:nvSpPr>
          <p:cNvPr id="487" name="Google Shape;487;p53"/>
          <p:cNvSpPr txBox="1"/>
          <p:nvPr/>
        </p:nvSpPr>
        <p:spPr>
          <a:xfrm>
            <a:off x="120550" y="147350"/>
            <a:ext cx="8853900" cy="44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❏"/>
            </a:pPr>
            <a:r>
              <a:rPr lang="en-GB" sz="16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1"/>
              </a:rPr>
              <a:t>https://morioh.com/a/42dc6d4ad6a5/user-interface-design-ui-in-software-engineering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❏"/>
            </a:pPr>
            <a:r>
              <a:rPr lang="en-GB" sz="16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2"/>
              </a:rPr>
              <a:t>https://www.uxmatters.com/mt/archives/2022/10/applying-the-8-golden-rules-of-user-interface-design.php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❏"/>
            </a:pPr>
            <a:r>
              <a:rPr lang="en-GB" sz="16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3"/>
              </a:rPr>
              <a:t>https://yellowchalk.com/blog/8-golden-rules-of-interface-design/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❏"/>
            </a:pPr>
            <a:r>
              <a:rPr lang="en-GB" sz="16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4"/>
              </a:rPr>
              <a:t>https://www.linkedin.com/pulse/creating-consistency-ui-design-manjesh-yadav-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❏"/>
            </a:pPr>
            <a:r>
              <a:rPr lang="en-GB" sz="16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5"/>
              </a:rPr>
              <a:t>https://www.chameleon.io/inspiration/slack-product-tour-tooltips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❏"/>
            </a:pPr>
            <a:r>
              <a:rPr lang="en-GB" sz="16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6"/>
              </a:rPr>
              <a:t>Skyscanner | Find the cheapest flights fast: save time, save money!</a:t>
            </a:r>
            <a:endParaRPr sz="2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❏"/>
            </a:pPr>
            <a:r>
              <a:rPr lang="en-GB" sz="16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7"/>
              </a:rPr>
              <a:t>Don Norman's seven fundamental design principles | UX Collective (uxdesign.cc)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verage"/>
              <a:buChar char="❏"/>
            </a:pP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resting ca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5153" y="462439"/>
            <a:ext cx="2509838" cy="25098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4590" y="2173605"/>
            <a:ext cx="3595211" cy="2018824"/>
          </a:xfrm>
          <a:solidFill>
            <a:srgbClr val="FF9100"/>
          </a:solidFill>
          <a:ln w="76200">
            <a:solidFill>
              <a:schemeClr val="tx1"/>
            </a:solidFill>
          </a:ln>
        </p:spPr>
        <p:txBody>
          <a:bodyPr/>
          <a:p>
            <a:pPr algn="ctr"/>
            <a:r>
              <a:rPr lang="en-US" b="1">
                <a:solidFill>
                  <a:schemeClr val="bg1"/>
                </a:solidFill>
              </a:rPr>
              <a:t>Thank You!</a:t>
            </a:r>
            <a:br>
              <a:rPr lang="en-US" b="1">
                <a:solidFill>
                  <a:schemeClr val="bg1"/>
                </a:solidFill>
              </a:rPr>
            </a:b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z="790"/>
              <a:t>Tasmin Sanjida, Lecturer, CSE, UIU</a:t>
            </a:r>
            <a:endParaRPr lang="en-US" sz="79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z="790" smtClean="0"/>
            </a:fld>
            <a:endParaRPr lang="en-US" sz="79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7837</Words>
  <Application>WPS Presentation</Application>
  <PresentationFormat/>
  <Paragraphs>316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Arial</vt:lpstr>
      <vt:lpstr>SimSun</vt:lpstr>
      <vt:lpstr>Wingdings</vt:lpstr>
      <vt:lpstr>Arial</vt:lpstr>
      <vt:lpstr>Calibri</vt:lpstr>
      <vt:lpstr>Oswald</vt:lpstr>
      <vt:lpstr>Oswald Light</vt:lpstr>
      <vt:lpstr>Siyam Rupali</vt:lpstr>
      <vt:lpstr>Cambria</vt:lpstr>
      <vt:lpstr>Microsoft YaHei</vt:lpstr>
      <vt:lpstr>Arial Unicode MS</vt:lpstr>
      <vt:lpstr>Average</vt:lpstr>
      <vt:lpstr>Simple Light</vt:lpstr>
      <vt:lpstr>Default Design</vt:lpstr>
      <vt:lpstr>UI / UX Design Principle</vt:lpstr>
      <vt:lpstr>SDLC Steps </vt:lpstr>
      <vt:lpstr>UI Design</vt:lpstr>
      <vt:lpstr>Steps of UI Design</vt:lpstr>
      <vt:lpstr>Is it a good UI?</vt:lpstr>
      <vt:lpstr>Rules of UI Diagram</vt:lpstr>
      <vt:lpstr>PowerPoint 演示文稿</vt:lpstr>
      <vt:lpstr>PowerPoint 演示文稿</vt:lpstr>
      <vt:lpstr>Three Golden Rules of UI Design</vt:lpstr>
      <vt:lpstr>Three Golden Rules of UI Design</vt:lpstr>
      <vt:lpstr>Three Golden Rules of UI Design</vt:lpstr>
      <vt:lpstr>Shneiderman’s Eight Golden Rules of UI Design</vt:lpstr>
      <vt:lpstr>Shneiderman’s Eight Golden Rules of UI Design</vt:lpstr>
      <vt:lpstr>PowerPoint 演示文稿</vt:lpstr>
      <vt:lpstr>Shneiderman’s Eight Golden Rules of UI Design</vt:lpstr>
      <vt:lpstr>Shneiderman’s Eight Golden Rules of UI Design</vt:lpstr>
      <vt:lpstr>Shneiderman’s Eight Golden Rules of UI Design</vt:lpstr>
      <vt:lpstr>Shneiderman’s Eight Golden Rules of UI Design</vt:lpstr>
      <vt:lpstr>Shneiderman’s Eight Golden Rules of UI Design</vt:lpstr>
      <vt:lpstr>Shneiderman’s Eight Golden Rules of UI Design</vt:lpstr>
      <vt:lpstr>Shneiderman’s Eight Golden Rules of UI Design</vt:lpstr>
      <vt:lpstr>Norman’s Seven Fundamental Design Principles</vt:lpstr>
      <vt:lpstr>Norman’s Seven Fundamental Design Principles</vt:lpstr>
      <vt:lpstr>Norman’s Seven Fundamental Design Principles</vt:lpstr>
      <vt:lpstr>Norman’s Seven Fundamental Design Principles</vt:lpstr>
      <vt:lpstr>Norman’s Seven Fundamental Design Principles</vt:lpstr>
      <vt:lpstr>Norman’s Seven Fundamental Design Principles</vt:lpstr>
      <vt:lpstr>Norman’s Seven Fundamental Design Principles</vt:lpstr>
      <vt:lpstr>Norman’s Seven Fundamental Design Principles</vt:lpstr>
      <vt:lpstr>PowerPoint 演示文稿</vt:lpstr>
      <vt:lpstr>Thank You!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3411 System Analysis and Design (SAD) Spring 2024</dc:title>
  <dc:creator/>
  <cp:lastModifiedBy>hp</cp:lastModifiedBy>
  <cp:revision>9</cp:revision>
  <dcterms:created xsi:type="dcterms:W3CDTF">2025-05-01T13:46:00Z</dcterms:created>
  <dcterms:modified xsi:type="dcterms:W3CDTF">2026-05-15T05:31:11Z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374B7A13D06C488A94FCF842CBA339DC_12</vt:lpwstr>
  </property>
  <property fmtid="{D5CDD505-2E9C-101B-9397-08002B2CF9AE}" pid="3" name="KSOProductBuildVer">
    <vt:lpwstr>1033-12.1.0.25862</vt:lpwstr>
  </property>
</Properties>
</file>