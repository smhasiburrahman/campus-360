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3"/>
  </p:sldMasterIdLst>
  <p:notesMasterIdLst>
    <p:notesMasterId r:id="rId6"/>
  </p:notesMasterIdLst>
  <p:sldIdLst>
    <p:sldId id="273" r:id="rId4"/>
    <p:sldId id="257" r:id="rId5"/>
    <p:sldId id="258" r:id="rId7"/>
    <p:sldId id="274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5" r:id="rId23"/>
  </p:sldIdLst>
  <p:sldSz cx="9144000" cy="5143500"/>
  <p:notesSz cx="6858000" cy="9144000"/>
  <p:embeddedFontLst>
    <p:embeddedFont>
      <p:font typeface="Calibri" panose="020F0502020204030204" charset="0"/>
      <p:regular r:id="rId27"/>
      <p:bold r:id="rId28"/>
      <p:italic r:id="rId29"/>
      <p:boldItalic r:id="rId30"/>
    </p:embeddedFont>
    <p:embeddedFont>
      <p:font typeface="Comic Sans MS" panose="030F0702030302020204"/>
      <p:regular r:id="rId31"/>
      <p:bold r:id="rId32"/>
      <p:italic r:id="rId33"/>
      <p:boldItalic r:id="rId34"/>
    </p:embeddedFont>
    <p:embeddedFont>
      <p:font typeface="Oswald"/>
      <p:regular r:id="rId35"/>
    </p:embeddedFont>
    <p:embeddedFont>
      <p:font typeface="Average"/>
      <p:regular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58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58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6" Type="http://schemas.openxmlformats.org/officeDocument/2006/relationships/font" Target="fonts/font10.fntdata"/><Relationship Id="rId35" Type="http://schemas.openxmlformats.org/officeDocument/2006/relationships/font" Target="fonts/font9.fntdata"/><Relationship Id="rId34" Type="http://schemas.openxmlformats.org/officeDocument/2006/relationships/font" Target="fonts/font8.fntdata"/><Relationship Id="rId33" Type="http://schemas.openxmlformats.org/officeDocument/2006/relationships/font" Target="fonts/font7.fntdata"/><Relationship Id="rId32" Type="http://schemas.openxmlformats.org/officeDocument/2006/relationships/font" Target="fonts/font6.fntdata"/><Relationship Id="rId31" Type="http://schemas.openxmlformats.org/officeDocument/2006/relationships/font" Target="fonts/font5.fntdata"/><Relationship Id="rId30" Type="http://schemas.openxmlformats.org/officeDocument/2006/relationships/font" Target="fonts/font4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3.fntdata"/><Relationship Id="rId28" Type="http://schemas.openxmlformats.org/officeDocument/2006/relationships/font" Target="fonts/font2.fntdata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b9b4346e95_0_0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g2b9b4346e95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b9b4346e95_0_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305" name="Google Shape;305;g2b9b4346e95_0_9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b9b4346e95_0_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305" name="Google Shape;305;g2b9b4346e95_0_9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695d13ebab_0_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312" name="Google Shape;312;g2695d13ebab_0_22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cbb6d5cba3_0_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319" name="Google Shape;319;g2cbb6d5cba3_0_14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cbb6d5cba3_0_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326" name="Google Shape;326;g2cbb6d5cba3_0_24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cbb6d5cba3_0_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333" name="Google Shape;333;g2cbb6d5cba3_0_34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cbb6d5cba3_0_4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340" name="Google Shape;340;g2cbb6d5cba3_0_42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cbb6d5cba3_0_4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347" name="Google Shape;347;g2cbb6d5cba3_0_49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cbb6d5cba3_0_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354" name="Google Shape;354;g2cbb6d5cba3_0_57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cbb6d5cba3_0_6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361" name="Google Shape;361;g2cbb6d5cba3_0_64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cbb6d5cba3_0_7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368" name="Google Shape;368;g2cbb6d5cba3_0_70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cbb6d5cba3_0_7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374" name="Google Shape;374;g2cbb6d5cba3_0_76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cbb6d5cba3_0_8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381" name="Google Shape;381;g2cbb6d5cba3_0_86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cbb6d5cba3_0_9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388" name="Google Shape;388;g2cbb6d5cba3_0_95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cbb6d5cba3_0_10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395" name="Google Shape;395;g2cbb6d5cba3_0_104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b5ccd29d25_0_3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2b5ccd29d25_0_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2504" cy="33944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200150"/>
            <a:ext cx="4032504" cy="33944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1878806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7400" indent="0">
              <a:buNone/>
              <a:defRPr sz="565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7400" indent="0">
              <a:buNone/>
              <a:defRPr sz="565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5293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8" Type="http://schemas.openxmlformats.org/officeDocument/2006/relationships/theme" Target="../theme/theme2.xml"/><Relationship Id="rId27" Type="http://schemas.openxmlformats.org/officeDocument/2006/relationships/slideLayout" Target="../slideLayouts/slideLayout38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/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/>
          <p:nvPr>
            <p:ph type="dt" sz="half" idx="2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050"/>
            </a:lvl1pPr>
          </a:lstStyle>
          <a:p>
            <a:pPr lvl="0"/>
            <a:endParaRPr lang="en-US"/>
          </a:p>
        </p:txBody>
      </p:sp>
      <p:sp>
        <p:nvSpPr>
          <p:cNvPr id="1029" name="Footer Placeholder 1028"/>
          <p:cNvSpPr/>
          <p:nvPr>
            <p:ph type="ftr" sz="quarter" idx="3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050"/>
            </a:lvl1pPr>
          </a:lstStyle>
          <a:p>
            <a:pPr lvl="0"/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1030" name="Slide Number Placeholder 1029"/>
          <p:cNvSpPr/>
          <p:nvPr>
            <p:ph type="sldNum" sz="quarter" idx="4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050"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hf hdr="0" dt="0"/>
  <p:txStyles>
    <p:titleStyle>
      <a:lvl1pPr marL="0" lvl="0" indent="0" algn="ctr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3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57175" lvl="0" indent="-257175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57530" lvl="1" indent="-213995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–"/>
        <a:defRPr sz="21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lvl="2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•"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lvl="3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–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543050" lvl="4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lvl="5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228850" lvl="6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71750" lvl="7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14650" lvl="8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42900" lvl="1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685800" lvl="2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028700" lvl="3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371600" lvl="4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1714500" lvl="5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057400" lvl="6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2400300" lvl="7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2743200" lvl="8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3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38.xml"/><Relationship Id="rId2" Type="http://schemas.openxmlformats.org/officeDocument/2006/relationships/hyperlink" Target="https://www.javatpoint.com/software-requirement-specifications" TargetMode="External"/><Relationship Id="rId1" Type="http://schemas.openxmlformats.org/officeDocument/2006/relationships/hyperlink" Target="https://www.geeksforgeeks.org/software-requirement-specification-srs-format/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solidFill>
            <a:srgbClr val="FF9100"/>
          </a:solidFill>
          <a:ln w="76200">
            <a:solidFill>
              <a:schemeClr val="tx1"/>
            </a:solidFill>
          </a:ln>
        </p:spPr>
        <p:txBody>
          <a:bodyPr anchor="ctr" anchorCtr="0">
            <a:normAutofit/>
          </a:bodyPr>
          <a:p>
            <a:pPr algn="ctr" fontAlgn="ctr">
              <a:lnSpc>
                <a:spcPct val="90000"/>
              </a:lnSpc>
            </a:pPr>
            <a:r>
              <a:rPr lang="en-GB" sz="3600" b="1">
                <a:solidFill>
                  <a:schemeClr val="bg1"/>
                </a:solidFill>
                <a:latin typeface="Calibri" panose="020F0502020204030204" charset="0"/>
                <a:ea typeface="Comic Sans MS" panose="030F0702030302020204"/>
                <a:cs typeface="Calibri" panose="020F0502020204030204" charset="0"/>
                <a:sym typeface="Comic Sans MS" panose="030F0702030302020204"/>
              </a:rPr>
              <a:t>Software Requirement Specifications</a:t>
            </a:r>
            <a:r>
              <a:rPr lang="en-US" altLang="en-GB" sz="3600" b="1">
                <a:solidFill>
                  <a:schemeClr val="bg1"/>
                </a:solidFill>
                <a:latin typeface="Calibri" panose="020F0502020204030204" charset="0"/>
                <a:ea typeface="Comic Sans MS" panose="030F0702030302020204"/>
                <a:cs typeface="Calibri" panose="020F0502020204030204" charset="0"/>
                <a:sym typeface="Comic Sans MS" panose="030F0702030302020204"/>
              </a:rPr>
              <a:t> (</a:t>
            </a:r>
            <a:r>
              <a:rPr lang="en-US" sz="36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SRS)</a:t>
            </a:r>
            <a:r>
              <a:rPr lang="en-US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alibri" panose="020F0502020204030204" charset="0"/>
                <a:ea typeface="Arial" panose="020B0604020202020204"/>
                <a:cs typeface="Calibri" panose="020F0502020204030204" charset="0"/>
                <a:sym typeface="Arial" panose="020B0604020202020204"/>
              </a:rPr>
              <a:t> </a:t>
            </a:r>
            <a:endParaRPr lang="en-US" sz="3600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ea typeface="Arial" panose="020B0604020202020204"/>
              <a:cs typeface="Calibri" panose="020F0502020204030204" charset="0"/>
              <a:sym typeface="Arial" panose="020B0604020202020204"/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1088231" y="2632710"/>
            <a:ext cx="6858000" cy="990124"/>
          </a:xfrm>
        </p:spPr>
        <p:txBody>
          <a:bodyPr>
            <a:noAutofit/>
          </a:bodyPr>
          <a:p>
            <a:endParaRPr lang="en-US" sz="1050">
              <a:solidFill>
                <a:schemeClr val="tx1"/>
              </a:solidFill>
            </a:endParaRPr>
          </a:p>
          <a:p>
            <a:r>
              <a:rPr lang="en-US" sz="2100">
                <a:solidFill>
                  <a:schemeClr val="tx1"/>
                </a:solidFill>
              </a:rPr>
              <a:t>System Analysis and Design</a:t>
            </a:r>
            <a:endParaRPr lang="en-US" sz="2100">
              <a:solidFill>
                <a:schemeClr val="tx1"/>
              </a:solidFill>
            </a:endParaRPr>
          </a:p>
          <a:p>
            <a:r>
              <a:rPr lang="en-US" sz="2100">
                <a:solidFill>
                  <a:schemeClr val="tx1"/>
                </a:solidFill>
              </a:rPr>
              <a:t>Content  02</a:t>
            </a:r>
            <a:endParaRPr lang="en-US" sz="210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sz="790"/>
              <a:t>Tasmin Sanjida, Lecturer, CSE, UIU</a:t>
            </a:r>
            <a:endParaRPr lang="en-US" sz="79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fld id="{9B618960-8005-486C-9A75-10CB2AAC16F9}" type="slidenum">
              <a:rPr lang="en-US" sz="790" smtClean="0"/>
            </a:fld>
            <a:endParaRPr lang="en-US" sz="79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l="29333"/>
          <a:stretch>
            <a:fillRect/>
          </a:stretch>
        </p:blipFill>
        <p:spPr>
          <a:xfrm>
            <a:off x="0" y="2876550"/>
            <a:ext cx="1664494" cy="23555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9"/>
          <p:cNvSpPr txBox="1"/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Oswald"/>
                <a:ea typeface="Oswald"/>
                <a:cs typeface="Oswald"/>
                <a:sym typeface="Oswald"/>
              </a:rPr>
            </a:fld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01" name="Google Shape;301;p29"/>
          <p:cNvSpPr/>
          <p:nvPr/>
        </p:nvSpPr>
        <p:spPr>
          <a:xfrm>
            <a:off x="914400" y="742950"/>
            <a:ext cx="7315200" cy="3657600"/>
          </a:xfrm>
          <a:prstGeom prst="roundRect">
            <a:avLst>
              <a:gd name="adj" fmla="val 16667"/>
            </a:avLst>
          </a:prstGeom>
          <a:solidFill>
            <a:srgbClr val="FF9100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302" name="Google Shape;302;p29"/>
          <p:cNvSpPr txBox="1"/>
          <p:nvPr/>
        </p:nvSpPr>
        <p:spPr>
          <a:xfrm>
            <a:off x="1371600" y="1200150"/>
            <a:ext cx="64008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chemeClr val="lt1"/>
                </a:solidFill>
                <a:latin typeface="Calibri" panose="020F0502020204030204" charset="0"/>
                <a:ea typeface="Comic Sans MS" panose="030F0702030302020204"/>
                <a:cs typeface="Calibri" panose="020F0502020204030204" charset="0"/>
                <a:sym typeface="Comic Sans MS" panose="030F0702030302020204"/>
              </a:rPr>
              <a:t>Software Requirement Specifications</a:t>
            </a:r>
            <a:endParaRPr lang="en-GB" sz="4800" b="1">
              <a:solidFill>
                <a:schemeClr val="lt1"/>
              </a:solidFill>
              <a:latin typeface="Calibri" panose="020F0502020204030204" charset="0"/>
              <a:ea typeface="Comic Sans MS" panose="030F0702030302020204"/>
              <a:cs typeface="Calibri" panose="020F0502020204030204" charset="0"/>
              <a:sym typeface="Comic Sans MS" panose="030F070203030202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chemeClr val="lt1"/>
                </a:solidFill>
                <a:latin typeface="Calibri" panose="020F0502020204030204" charset="0"/>
                <a:ea typeface="Comic Sans MS" panose="030F0702030302020204"/>
                <a:cs typeface="Calibri" panose="020F0502020204030204" charset="0"/>
                <a:sym typeface="Comic Sans MS" panose="030F0702030302020204"/>
              </a:rPr>
              <a:t>(SRS)</a:t>
            </a:r>
            <a:endParaRPr lang="en-US" sz="4800" b="1">
              <a:solidFill>
                <a:schemeClr val="lt1"/>
              </a:solidFill>
              <a:latin typeface="Calibri" panose="020F0502020204030204" charset="0"/>
              <a:ea typeface="Comic Sans MS" panose="030F0702030302020204"/>
              <a:cs typeface="Calibri" panose="020F0502020204030204" charset="0"/>
              <a:sym typeface="Comic Sans MS" panose="030F0702030302020204"/>
            </a:endParaRPr>
          </a:p>
        </p:txBody>
      </p:sp>
      <p:sp>
        <p:nvSpPr>
          <p:cNvPr id="1" name="Footer Placeholder 0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0"/>
          <p:cNvSpPr txBox="1"/>
          <p:nvPr>
            <p:ph type="title"/>
          </p:nvPr>
        </p:nvSpPr>
        <p:spPr>
          <a:xfrm>
            <a:off x="311785" y="467360"/>
            <a:ext cx="8520430" cy="815975"/>
          </a:xfrm>
          <a:prstGeom prst="rect">
            <a:avLst/>
          </a:prstGeom>
          <a:solidFill>
            <a:srgbClr val="FF9100"/>
          </a:solidFill>
          <a:ln w="3810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3200" b="1">
                <a:solidFill>
                  <a:schemeClr val="bg1"/>
                </a:solidFill>
                <a:latin typeface="Calibri" panose="020F0502020204030204" charset="0"/>
                <a:ea typeface="Comic Sans MS" panose="030F0702030302020204"/>
                <a:cs typeface="Calibri" panose="020F0502020204030204" charset="0"/>
                <a:sym typeface="Comic Sans MS" panose="030F0702030302020204"/>
              </a:rPr>
              <a:t>Software Requirement Specifications</a:t>
            </a:r>
            <a:r>
              <a:rPr lang="en-US" altLang="en-GB" sz="3200" b="1">
                <a:solidFill>
                  <a:schemeClr val="bg1"/>
                </a:solidFill>
                <a:latin typeface="Calibri" panose="020F0502020204030204" charset="0"/>
                <a:ea typeface="Comic Sans MS" panose="030F0702030302020204"/>
                <a:cs typeface="Calibri" panose="020F0502020204030204" charset="0"/>
                <a:sym typeface="Comic Sans MS" panose="030F0702030302020204"/>
              </a:rPr>
              <a:t> (</a:t>
            </a:r>
            <a:r>
              <a:rPr lang="en-GB" sz="32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SRS</a:t>
            </a:r>
            <a:r>
              <a:rPr lang="en-US" altLang="en-GB" sz="32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)</a:t>
            </a:r>
            <a:endParaRPr lang="en-US" altLang="en-GB" sz="32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08" name="Google Shape;308;p30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001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76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A </a:t>
            </a:r>
            <a:r>
              <a:rPr lang="en-GB" sz="24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complete </a:t>
            </a:r>
            <a:r>
              <a:rPr lang="en-GB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specification and description of requirements of the software that need to be fulfilled for the </a:t>
            </a:r>
            <a:r>
              <a:rPr lang="en-GB" sz="24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successful development </a:t>
            </a:r>
            <a:r>
              <a:rPr lang="en-GB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of the software system.</a:t>
            </a:r>
            <a:endParaRPr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191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GB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Generated as </a:t>
            </a:r>
            <a:r>
              <a:rPr lang="en-GB" sz="24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output of Requirements Analysis</a:t>
            </a:r>
            <a:r>
              <a:rPr lang="en-GB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.</a:t>
            </a:r>
            <a:endParaRPr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191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GB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A formal report that </a:t>
            </a:r>
            <a:r>
              <a:rPr lang="en-GB" sz="24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enables the customers to review</a:t>
            </a:r>
            <a:r>
              <a:rPr lang="en-GB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whether it is according to their requirements.</a:t>
            </a:r>
            <a:endParaRPr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309" name="Google Shape;309;p30"/>
          <p:cNvSpPr txBox="1"/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Oswald"/>
                <a:ea typeface="Oswald"/>
                <a:cs typeface="Oswald"/>
                <a:sym typeface="Oswald"/>
              </a:rPr>
            </a:fld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" name="Footer Placeholder 0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0"/>
          <p:cNvSpPr txBox="1"/>
          <p:nvPr>
            <p:ph type="title"/>
          </p:nvPr>
        </p:nvSpPr>
        <p:spPr>
          <a:xfrm>
            <a:off x="311785" y="467360"/>
            <a:ext cx="8520430" cy="815975"/>
          </a:xfrm>
          <a:prstGeom prst="rect">
            <a:avLst/>
          </a:prstGeom>
          <a:solidFill>
            <a:srgbClr val="FF9100"/>
          </a:solidFill>
          <a:ln w="3810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3200" b="1">
                <a:solidFill>
                  <a:schemeClr val="bg1"/>
                </a:solidFill>
                <a:latin typeface="Calibri" panose="020F0502020204030204" charset="0"/>
                <a:ea typeface="Comic Sans MS" panose="030F0702030302020204"/>
                <a:cs typeface="Calibri" panose="020F0502020204030204" charset="0"/>
                <a:sym typeface="Comic Sans MS" panose="030F0702030302020204"/>
              </a:rPr>
              <a:t>Software Requirement Specifications</a:t>
            </a:r>
            <a:r>
              <a:rPr lang="en-US" altLang="en-GB" sz="3200" b="1">
                <a:solidFill>
                  <a:schemeClr val="bg1"/>
                </a:solidFill>
                <a:latin typeface="Calibri" panose="020F0502020204030204" charset="0"/>
                <a:ea typeface="Comic Sans MS" panose="030F0702030302020204"/>
                <a:cs typeface="Calibri" panose="020F0502020204030204" charset="0"/>
                <a:sym typeface="Comic Sans MS" panose="030F0702030302020204"/>
              </a:rPr>
              <a:t> (</a:t>
            </a:r>
            <a:r>
              <a:rPr lang="en-GB" sz="32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SRS</a:t>
            </a:r>
            <a:r>
              <a:rPr lang="en-US" altLang="en-GB" sz="32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)</a:t>
            </a:r>
            <a:endParaRPr lang="en-US" altLang="en-GB" sz="32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08" name="Google Shape;308;p30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It is a formal document that describes:</a:t>
            </a:r>
            <a:endParaRPr lang="en-US" altLang="en-US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191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altLang="en-US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what the </a:t>
            </a:r>
            <a:r>
              <a:rPr lang="en-US" altLang="en-US" sz="20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software should do</a:t>
            </a:r>
            <a:r>
              <a:rPr lang="en-US" altLang="en-US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,</a:t>
            </a:r>
            <a:endParaRPr lang="en-US" altLang="en-US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191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altLang="en-US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how the </a:t>
            </a:r>
            <a:r>
              <a:rPr lang="en-US" altLang="en-US" sz="20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system </a:t>
            </a:r>
            <a:r>
              <a:rPr lang="en-US" altLang="en-US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should </a:t>
            </a:r>
            <a:r>
              <a:rPr lang="en-US" altLang="en-US" sz="20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behave</a:t>
            </a:r>
            <a:r>
              <a:rPr lang="en-US" altLang="en-US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,</a:t>
            </a:r>
            <a:endParaRPr lang="en-US" altLang="en-US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191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altLang="en-US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the </a:t>
            </a:r>
            <a:r>
              <a:rPr lang="en-US" altLang="en-US" sz="20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features </a:t>
            </a:r>
            <a:r>
              <a:rPr lang="en-US" altLang="en-US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and </a:t>
            </a:r>
            <a:r>
              <a:rPr lang="en-US" altLang="en-US" sz="20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functions</a:t>
            </a:r>
            <a:r>
              <a:rPr lang="en-US" altLang="en-US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,</a:t>
            </a:r>
            <a:endParaRPr lang="en-US" altLang="en-US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191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altLang="en-US" sz="20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constraints and requirements of the system.</a:t>
            </a:r>
            <a:endParaRPr lang="en-US" altLang="en-US" sz="2000" b="1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76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altLang="en-US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76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altLang="en-US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Think of it as a blueprint of the software project before development starts.</a:t>
            </a:r>
            <a:endParaRPr lang="en-US" altLang="en-US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309" name="Google Shape;309;p30"/>
          <p:cNvSpPr txBox="1"/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Oswald"/>
                <a:ea typeface="Oswald"/>
                <a:cs typeface="Oswald"/>
                <a:sym typeface="Oswald"/>
              </a:rPr>
            </a:fld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" name="Footer Placeholder 0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1"/>
          <p:cNvSpPr txBox="1"/>
          <p:nvPr>
            <p:ph type="title"/>
          </p:nvPr>
        </p:nvSpPr>
        <p:spPr>
          <a:xfrm>
            <a:off x="311785" y="467360"/>
            <a:ext cx="8520430" cy="760730"/>
          </a:xfrm>
          <a:prstGeom prst="rect">
            <a:avLst/>
          </a:prstGeom>
          <a:solidFill>
            <a:srgbClr val="FF9100"/>
          </a:solidFill>
          <a:ln w="3810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32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Structural Components of an SRS</a:t>
            </a:r>
            <a:endParaRPr lang="en-GB" sz="32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15" name="Google Shape;315;p31"/>
          <p:cNvSpPr txBox="1"/>
          <p:nvPr>
            <p:ph type="body" idx="1"/>
          </p:nvPr>
        </p:nvSpPr>
        <p:spPr>
          <a:xfrm>
            <a:off x="311700" y="1152475"/>
            <a:ext cx="81786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spcBef>
                <a:spcPts val="1200"/>
              </a:spcBef>
              <a:spcAft>
                <a:spcPts val="0"/>
              </a:spcAft>
            </a:pP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191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GB" sz="20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Purpose </a:t>
            </a:r>
            <a:r>
              <a:rPr lang="en-US" alt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: </a:t>
            </a:r>
            <a:r>
              <a:rPr lang="en-GB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Main aim of why the </a:t>
            </a:r>
            <a:r>
              <a:rPr lang="en-US" altLang="en-GB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system </a:t>
            </a:r>
            <a:r>
              <a:rPr lang="en-GB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is necessary</a:t>
            </a:r>
            <a:endParaRPr sz="2000"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191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GB" sz="20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Scope </a:t>
            </a:r>
            <a:r>
              <a:rPr lang="en-US" alt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: </a:t>
            </a:r>
            <a:r>
              <a:rPr lang="en-US" altLang="en-US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Describes the main goals, features, and benefits of the system. A</a:t>
            </a:r>
            <a:r>
              <a:rPr lang="en-GB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nd what value it will provide to customer is described</a:t>
            </a:r>
            <a:endParaRPr lang="en-US" altLang="en-US" sz="2000"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191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GB" sz="20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Overview </a:t>
            </a:r>
            <a:r>
              <a:rPr lang="en-US" alt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: </a:t>
            </a:r>
            <a:r>
              <a:rPr lang="en-US" altLang="en-US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Gives a brief description of the product/system.</a:t>
            </a:r>
            <a:endParaRPr lang="en-US" altLang="en-US" sz="2000"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316" name="Google Shape;316;p31"/>
          <p:cNvSpPr txBox="1"/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Oswald"/>
                <a:ea typeface="Oswald"/>
                <a:cs typeface="Oswald"/>
                <a:sym typeface="Oswald"/>
              </a:rPr>
            </a:fld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" name="Footer Placeholder 0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2"/>
          <p:cNvSpPr txBox="1"/>
          <p:nvPr>
            <p:ph type="title"/>
          </p:nvPr>
        </p:nvSpPr>
        <p:spPr>
          <a:xfrm>
            <a:off x="311785" y="224155"/>
            <a:ext cx="8520430" cy="815975"/>
          </a:xfrm>
          <a:prstGeom prst="rect">
            <a:avLst/>
          </a:prstGeom>
          <a:solidFill>
            <a:srgbClr val="FF9100"/>
          </a:solidFill>
          <a:ln w="3810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3200" b="1">
                <a:solidFill>
                  <a:schemeClr val="bg1"/>
                </a:solidFill>
              </a:rPr>
              <a:t>Components of an SRS</a:t>
            </a:r>
            <a:endParaRPr lang="en-GB" sz="3200" b="1">
              <a:solidFill>
                <a:schemeClr val="bg1"/>
              </a:solidFill>
            </a:endParaRPr>
          </a:p>
        </p:txBody>
      </p:sp>
      <p:sp>
        <p:nvSpPr>
          <p:cNvPr id="322" name="Google Shape;322;p32"/>
          <p:cNvSpPr txBox="1"/>
          <p:nvPr>
            <p:ph type="body" idx="1"/>
          </p:nvPr>
        </p:nvSpPr>
        <p:spPr>
          <a:xfrm>
            <a:off x="311700" y="1152475"/>
            <a:ext cx="8178600" cy="3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GB" sz="20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Functional Requirements</a:t>
            </a:r>
            <a:b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r>
              <a:rPr lang="en-US" altLang="en-GB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- </a:t>
            </a:r>
            <a:r>
              <a:rPr lang="en-GB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Specify the expected behavior of the system - which outputs should be produced from the given inputs.</a:t>
            </a:r>
            <a:br>
              <a:rPr lang="en-GB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r>
              <a:rPr lang="en-US" altLang="en-GB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- </a:t>
            </a:r>
            <a:r>
              <a:rPr lang="en-GB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Include </a:t>
            </a:r>
            <a:r>
              <a:rPr lang="en-US" altLang="en-US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features, </a:t>
            </a:r>
            <a:r>
              <a:rPr lang="en-GB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technical details, calculations, data processing, etc.</a:t>
            </a:r>
            <a:endParaRPr lang="en-GB" sz="2000"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altLang="en-US" sz="1800" i="1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The system will calculate students’ GPA from entered marks.</a:t>
            </a:r>
            <a:endParaRPr lang="en-US" altLang="en-US" sz="1800" i="1"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lvl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GB" sz="20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Interface Requirements</a:t>
            </a:r>
            <a:br>
              <a:rPr lang="en-GB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r>
              <a:rPr lang="en-US" alt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- </a:t>
            </a:r>
            <a:r>
              <a:rPr lang="en-GB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How software program communicates with each other or users either in form of any language, code, or message.</a:t>
            </a:r>
            <a:br>
              <a:rPr lang="en-GB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r>
              <a:rPr lang="en-US" alt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- </a:t>
            </a:r>
            <a:r>
              <a:rPr lang="en-GB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Shared memory, data streams, etc.</a:t>
            </a:r>
            <a:endParaRPr lang="en-GB" sz="2000"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altLang="en-US" sz="1800" i="1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The payment system will communicate with the bank server through an API.</a:t>
            </a:r>
            <a:endParaRPr lang="en-US" altLang="en-US" sz="1800" i="1"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323" name="Google Shape;323;p32"/>
          <p:cNvSpPr txBox="1"/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Oswald"/>
                <a:ea typeface="Oswald"/>
                <a:cs typeface="Oswald"/>
                <a:sym typeface="Oswald"/>
              </a:rPr>
            </a:fld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" name="Footer Placeholder 0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3"/>
          <p:cNvSpPr txBox="1"/>
          <p:nvPr>
            <p:ph type="body" idx="1"/>
          </p:nvPr>
        </p:nvSpPr>
        <p:spPr>
          <a:xfrm>
            <a:off x="311785" y="704850"/>
            <a:ext cx="8519795" cy="443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ct val="25000"/>
              <a:buNone/>
            </a:pPr>
            <a:endParaRPr lang="en-GB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19100" lvl="0" indent="-342900" algn="l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ct val="25000"/>
            </a:pPr>
            <a:r>
              <a:rPr lang="en-GB" sz="20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Performance Requirements</a:t>
            </a:r>
            <a:endParaRPr lang="en-GB" sz="2000" b="1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76200" lvl="0" indent="457200" algn="l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ct val="25000"/>
              <a:buNone/>
            </a:pPr>
            <a:r>
              <a:rPr lang="en-US" altLang="en-GB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- </a:t>
            </a:r>
            <a:r>
              <a:rPr lang="en-GB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How </a:t>
            </a:r>
            <a:r>
              <a:rPr lang="en-US" altLang="en-GB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well</a:t>
            </a:r>
            <a:r>
              <a:rPr lang="en-GB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software system performs desired functions under specific conditions</a:t>
            </a:r>
            <a:br>
              <a:rPr lang="en-GB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r>
              <a:rPr lang="en-US" altLang="en-GB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       - </a:t>
            </a:r>
            <a:r>
              <a:rPr lang="en-GB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Required time, required memory, maximum error rate, </a:t>
            </a:r>
            <a:r>
              <a:rPr lang="en-US" altLang="en-US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accuracy, </a:t>
            </a:r>
            <a:r>
              <a:rPr lang="en-GB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etc.</a:t>
            </a:r>
            <a:endParaRPr lang="en-GB" sz="2000"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76200" lvl="0" indent="0" algn="l" rtl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ct val="25000"/>
              <a:buNone/>
            </a:pPr>
            <a:r>
              <a:rPr lang="en-US" altLang="en-US" sz="1800" i="1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The system should load results within 2 seconds.</a:t>
            </a:r>
            <a:endParaRPr lang="en-GB" sz="2000" b="1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lvl="0" algn="l" rtl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ct val="25000"/>
            </a:pPr>
            <a:r>
              <a:rPr lang="en-GB" sz="20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Design Constraints</a:t>
            </a:r>
            <a:endParaRPr lang="en-GB" sz="2000" b="1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457200" algn="l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ct val="25000"/>
              <a:buNone/>
            </a:pPr>
            <a:r>
              <a:rPr lang="en-US" altLang="en-GB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- </a:t>
            </a:r>
            <a:r>
              <a:rPr lang="en-GB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Limitations or restrictions are specified</a:t>
            </a:r>
            <a:br>
              <a:rPr lang="en-GB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r>
              <a:rPr lang="en-US" altLang="en-GB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       - </a:t>
            </a:r>
            <a:r>
              <a:rPr lang="en-GB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Particular algorithm, hardware and software limitations, etc.</a:t>
            </a:r>
            <a:endParaRPr lang="en-GB" sz="2000"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ct val="25000"/>
              <a:buNone/>
            </a:pPr>
            <a:r>
              <a:rPr lang="en-US" altLang="en-US" sz="1800" i="1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The system must use MySQL database.</a:t>
            </a:r>
            <a:endParaRPr lang="en-GB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19100" lvl="0" indent="-342900" algn="l" rtl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ct val="25000"/>
            </a:pPr>
            <a:r>
              <a:rPr lang="en-GB" sz="20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Preliminary Schedule &amp; Budget</a:t>
            </a:r>
            <a:endParaRPr lang="en-GB" sz="2000" b="1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76200" lvl="0" indent="457200" algn="l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ct val="25000"/>
              <a:buNone/>
            </a:pPr>
            <a:r>
              <a:rPr lang="en-US" altLang="en-US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- Gives an initial estimate of project time and cost.</a:t>
            </a:r>
            <a:endParaRPr lang="en-US" altLang="en-US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330" name="Google Shape;330;p33"/>
          <p:cNvSpPr txBox="1"/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Oswald"/>
                <a:ea typeface="Oswald"/>
                <a:cs typeface="Oswald"/>
                <a:sym typeface="Oswald"/>
              </a:rPr>
            </a:fld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21" name="Google Shape;321;p32"/>
          <p:cNvSpPr txBox="1"/>
          <p:nvPr>
            <p:ph type="title"/>
          </p:nvPr>
        </p:nvSpPr>
        <p:spPr>
          <a:xfrm>
            <a:off x="311785" y="224155"/>
            <a:ext cx="8520430" cy="815975"/>
          </a:xfrm>
          <a:prstGeom prst="rect">
            <a:avLst/>
          </a:prstGeom>
          <a:solidFill>
            <a:srgbClr val="FF9100"/>
          </a:solidFill>
          <a:ln w="3810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3200" b="1">
                <a:solidFill>
                  <a:schemeClr val="bg1"/>
                </a:solidFill>
              </a:rPr>
              <a:t>Components of an SRS</a:t>
            </a:r>
            <a:endParaRPr lang="en-GB" sz="3200" b="1">
              <a:solidFill>
                <a:schemeClr val="bg1"/>
              </a:solidFill>
            </a:endParaRPr>
          </a:p>
        </p:txBody>
      </p:sp>
      <p:sp>
        <p:nvSpPr>
          <p:cNvPr id="1" name="Footer Placeholder 0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4"/>
          <p:cNvSpPr txBox="1"/>
          <p:nvPr>
            <p:ph type="title"/>
          </p:nvPr>
        </p:nvSpPr>
        <p:spPr>
          <a:xfrm>
            <a:off x="311785" y="217170"/>
            <a:ext cx="8520430" cy="822960"/>
          </a:xfrm>
          <a:prstGeom prst="rect">
            <a:avLst/>
          </a:prstGeom>
          <a:solidFill>
            <a:srgbClr val="FF9100"/>
          </a:solidFill>
          <a:ln w="3810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3200" b="1">
                <a:solidFill>
                  <a:schemeClr val="bg1"/>
                </a:solidFill>
              </a:rPr>
              <a:t>Components of an SRS</a:t>
            </a:r>
            <a:endParaRPr lang="en-GB" sz="3200" b="1">
              <a:solidFill>
                <a:schemeClr val="bg1"/>
              </a:solidFill>
            </a:endParaRPr>
          </a:p>
        </p:txBody>
      </p:sp>
      <p:sp>
        <p:nvSpPr>
          <p:cNvPr id="336" name="Google Shape;336;p34"/>
          <p:cNvSpPr txBox="1"/>
          <p:nvPr>
            <p:ph type="body" idx="1"/>
          </p:nvPr>
        </p:nvSpPr>
        <p:spPr>
          <a:xfrm>
            <a:off x="311700" y="1152475"/>
            <a:ext cx="8178600" cy="3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GB" sz="20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Non-Functional Attributes</a:t>
            </a:r>
            <a:endParaRPr lang="en-GB" sz="2000" b="1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altLang="en-US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Describe the quality and performance of the system. Focus on how the system should work rather than what it should do.</a:t>
            </a:r>
            <a:br>
              <a:rPr lang="en-GB" sz="20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— </a:t>
            </a:r>
            <a:r>
              <a:rPr lang="en-GB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Attributes for better performance</a:t>
            </a:r>
            <a:br>
              <a:rPr lang="en-GB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—</a:t>
            </a:r>
            <a:r>
              <a:rPr lang="en-GB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Reusability, Application Compatibility, Data Integrity, Scalability, etc.</a:t>
            </a:r>
            <a:br>
              <a:rPr lang="en-GB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—</a:t>
            </a:r>
            <a:r>
              <a:rPr lang="en-GB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Operational Requirements (portability, maintainability)</a:t>
            </a:r>
            <a:br>
              <a:rPr lang="en-GB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r>
              <a:rPr lang="en-GB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— Performance Requirements (speed, capacity)</a:t>
            </a:r>
            <a:br>
              <a:rPr lang="en-GB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r>
              <a:rPr lang="en-GB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— Security Requirements (digital certificate, access control, reliability)</a:t>
            </a:r>
            <a:br>
              <a:rPr lang="en-GB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r>
              <a:rPr lang="en-GB" sz="20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— Cultural and Political Requirements (social, language, legal, unstated norms etc.)</a:t>
            </a:r>
            <a:endParaRPr lang="en-GB" sz="2000"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337" name="Google Shape;337;p34"/>
          <p:cNvSpPr txBox="1"/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Oswald"/>
                <a:ea typeface="Oswald"/>
                <a:cs typeface="Oswald"/>
                <a:sym typeface="Oswald"/>
              </a:rPr>
            </a:fld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" name="Footer Placeholder 0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5"/>
          <p:cNvSpPr txBox="1"/>
          <p:nvPr>
            <p:ph type="title"/>
          </p:nvPr>
        </p:nvSpPr>
        <p:spPr>
          <a:xfrm>
            <a:off x="311785" y="248920"/>
            <a:ext cx="8520430" cy="791210"/>
          </a:xfrm>
          <a:prstGeom prst="rect">
            <a:avLst/>
          </a:prstGeom>
          <a:solidFill>
            <a:srgbClr val="FF9100"/>
          </a:solidFill>
          <a:ln w="3810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3200" b="1">
                <a:solidFill>
                  <a:schemeClr val="bg1"/>
                </a:solidFill>
              </a:rPr>
              <a:t>Use</a:t>
            </a:r>
            <a:r>
              <a:rPr lang="en-US" altLang="en-GB" sz="3200" b="1">
                <a:solidFill>
                  <a:schemeClr val="bg1"/>
                </a:solidFill>
              </a:rPr>
              <a:t>r</a:t>
            </a:r>
            <a:r>
              <a:rPr lang="en-GB" sz="3200" b="1">
                <a:solidFill>
                  <a:schemeClr val="bg1"/>
                </a:solidFill>
              </a:rPr>
              <a:t>s of an SRS</a:t>
            </a:r>
            <a:endParaRPr lang="en-GB" sz="3200" b="1">
              <a:solidFill>
                <a:schemeClr val="bg1"/>
              </a:solidFill>
            </a:endParaRPr>
          </a:p>
        </p:txBody>
      </p:sp>
      <p:sp>
        <p:nvSpPr>
          <p:cNvPr id="343" name="Google Shape;343;p35"/>
          <p:cNvSpPr txBox="1"/>
          <p:nvPr>
            <p:ph type="body" idx="1"/>
          </p:nvPr>
        </p:nvSpPr>
        <p:spPr>
          <a:xfrm>
            <a:off x="311700" y="1152475"/>
            <a:ext cx="8178600" cy="3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Project manager 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base their plans and estimates of schedule, effort and resources on it.</a:t>
            </a: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lvl="0" algn="l" rtl="0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Development team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require it for developing product according to the need.</a:t>
            </a: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lvl="0" algn="l" rtl="0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Test plans are generated by </a:t>
            </a: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testing group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based on the describe external behaviour.</a:t>
            </a: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lvl="0" algn="l" rtl="0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Maintenance and support staff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need it to understand what the software product is supposed to do.</a:t>
            </a:r>
            <a:endParaRPr lang="en-GB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344" name="Google Shape;344;p35"/>
          <p:cNvSpPr txBox="1"/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Oswald"/>
                <a:ea typeface="Oswald"/>
                <a:cs typeface="Oswald"/>
                <a:sym typeface="Oswald"/>
              </a:rPr>
            </a:fld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" name="Footer Placeholder 0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6"/>
          <p:cNvSpPr txBox="1"/>
          <p:nvPr>
            <p:ph type="body" idx="1"/>
          </p:nvPr>
        </p:nvSpPr>
        <p:spPr>
          <a:xfrm>
            <a:off x="311700" y="1152475"/>
            <a:ext cx="8178600" cy="3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Customers 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rely on it to know that product they can expect.</a:t>
            </a: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As a contract between </a:t>
            </a: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developer and customer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.</a:t>
            </a: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Publications group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writes documents, manuals, etc.</a:t>
            </a: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Training personnel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can use it to help develop educational material.</a:t>
            </a:r>
            <a:endParaRPr lang="en-GB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351" name="Google Shape;351;p36"/>
          <p:cNvSpPr txBox="1"/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Oswald"/>
                <a:ea typeface="Oswald"/>
                <a:cs typeface="Oswald"/>
                <a:sym typeface="Oswald"/>
              </a:rPr>
            </a:fld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42" name="Google Shape;342;p35"/>
          <p:cNvSpPr txBox="1"/>
          <p:nvPr>
            <p:ph type="title"/>
          </p:nvPr>
        </p:nvSpPr>
        <p:spPr>
          <a:xfrm>
            <a:off x="311785" y="248920"/>
            <a:ext cx="8520430" cy="791210"/>
          </a:xfrm>
          <a:prstGeom prst="rect">
            <a:avLst/>
          </a:prstGeom>
          <a:solidFill>
            <a:srgbClr val="FF9100"/>
          </a:solidFill>
          <a:ln w="3810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3200" b="1">
                <a:solidFill>
                  <a:schemeClr val="bg1"/>
                </a:solidFill>
              </a:rPr>
              <a:t>Use</a:t>
            </a:r>
            <a:r>
              <a:rPr lang="en-US" altLang="en-GB" sz="3200" b="1">
                <a:solidFill>
                  <a:schemeClr val="bg1"/>
                </a:solidFill>
              </a:rPr>
              <a:t>r</a:t>
            </a:r>
            <a:r>
              <a:rPr lang="en-GB" sz="3200" b="1">
                <a:solidFill>
                  <a:schemeClr val="bg1"/>
                </a:solidFill>
              </a:rPr>
              <a:t>s of an SRS</a:t>
            </a:r>
            <a:endParaRPr lang="en-GB" sz="3200" b="1">
              <a:solidFill>
                <a:schemeClr val="bg1"/>
              </a:solidFill>
            </a:endParaRPr>
          </a:p>
        </p:txBody>
      </p:sp>
      <p:sp>
        <p:nvSpPr>
          <p:cNvPr id="1" name="Footer Placeholder 0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7"/>
          <p:cNvSpPr txBox="1"/>
          <p:nvPr>
            <p:ph type="title"/>
          </p:nvPr>
        </p:nvSpPr>
        <p:spPr>
          <a:xfrm>
            <a:off x="311785" y="334010"/>
            <a:ext cx="8520430" cy="818515"/>
          </a:xfrm>
          <a:prstGeom prst="rect">
            <a:avLst/>
          </a:prstGeom>
          <a:solidFill>
            <a:srgbClr val="FF9100"/>
          </a:solidFill>
          <a:ln w="38100"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font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2800" b="1">
                <a:solidFill>
                  <a:schemeClr val="bg1"/>
                </a:solidFill>
              </a:rPr>
              <a:t>Validation of an SRS Document</a:t>
            </a:r>
            <a:endParaRPr lang="en-GB" sz="2800" b="1">
              <a:solidFill>
                <a:schemeClr val="bg1"/>
              </a:solidFill>
            </a:endParaRPr>
          </a:p>
        </p:txBody>
      </p:sp>
      <p:sp>
        <p:nvSpPr>
          <p:cNvPr id="357" name="Google Shape;357;p37"/>
          <p:cNvSpPr txBox="1"/>
          <p:nvPr>
            <p:ph type="body" idx="1"/>
          </p:nvPr>
        </p:nvSpPr>
        <p:spPr>
          <a:xfrm>
            <a:off x="311700" y="1152475"/>
            <a:ext cx="8178600" cy="3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spcBef>
                <a:spcPts val="1200"/>
              </a:spcBef>
              <a:spcAft>
                <a:spcPts val="0"/>
              </a:spcAft>
            </a:pP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191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It is extre</a:t>
            </a:r>
            <a:r>
              <a:rPr lang="en-US" alt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a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mely important to </a:t>
            </a: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detect errors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in the SRS document before going to other phases.</a:t>
            </a:r>
            <a:b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191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The major objective of SRS validation is to ensure </a:t>
            </a: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Completeness 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and </a:t>
            </a: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Correctness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.</a:t>
            </a:r>
            <a:endParaRPr lang="en-GB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358" name="Google Shape;358;p37"/>
          <p:cNvSpPr txBox="1"/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Oswald"/>
                <a:ea typeface="Oswald"/>
                <a:cs typeface="Oswald"/>
                <a:sym typeface="Oswald"/>
              </a:rPr>
            </a:fld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" name="Footer Placeholder 0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8"/>
          <p:cNvSpPr txBox="1"/>
          <p:nvPr>
            <p:ph type="title"/>
          </p:nvPr>
        </p:nvSpPr>
        <p:spPr>
          <a:xfrm>
            <a:off x="311785" y="278765"/>
            <a:ext cx="8520430" cy="761365"/>
          </a:xfrm>
          <a:prstGeom prst="rect">
            <a:avLst/>
          </a:prstGeom>
          <a:solidFill>
            <a:srgbClr val="FF9100"/>
          </a:solidFill>
          <a:ln w="3810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3200" b="1">
                <a:solidFill>
                  <a:schemeClr val="bg1"/>
                </a:solidFill>
              </a:rPr>
              <a:t>Validation of an SRS Document</a:t>
            </a:r>
            <a:endParaRPr lang="en-GB" sz="3200" b="1">
              <a:solidFill>
                <a:schemeClr val="bg1"/>
              </a:solidFill>
            </a:endParaRPr>
          </a:p>
        </p:txBody>
      </p:sp>
      <p:sp>
        <p:nvSpPr>
          <p:cNvPr id="364" name="Google Shape;364;p38"/>
          <p:cNvSpPr txBox="1"/>
          <p:nvPr>
            <p:ph type="body" idx="1"/>
          </p:nvPr>
        </p:nvSpPr>
        <p:spPr>
          <a:xfrm>
            <a:off x="311700" y="1152475"/>
            <a:ext cx="8178600" cy="3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20000"/>
              </a:lnSpc>
              <a:spcBef>
                <a:spcPts val="1200"/>
              </a:spcBef>
              <a:buClr>
                <a:schemeClr val="dk1"/>
              </a:buClr>
              <a:buSzPts val="2400"/>
              <a:buFont typeface="Oswald"/>
              <a:buNone/>
            </a:pP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In validation checking phase, we have to avoid the following errors:</a:t>
            </a: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57200" lvl="0" indent="0" algn="l" rtl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1. </a:t>
            </a: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Omission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: Some user requirement is not included in the SRS. This error directly affects the external completeness of the system.</a:t>
            </a: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57200" lvl="0" indent="0" algn="l" rtl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2. </a:t>
            </a: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Inconsistency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: Due to contradictions in requirements or incompatibility of state requirements.</a:t>
            </a: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57200" lvl="0" indent="0" algn="l" rtl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3. </a:t>
            </a: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Incorrect Fact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: Some facts recorded in the SRS are not correct.</a:t>
            </a: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57200" lvl="0" indent="0" algn="l" rtl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4. </a:t>
            </a: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Ambiguity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: 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Some requirements have multiple meanings.</a:t>
            </a:r>
            <a:endParaRPr lang="en-GB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365" name="Google Shape;365;p38"/>
          <p:cNvSpPr txBox="1"/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Oswald"/>
                <a:ea typeface="Oswald"/>
                <a:cs typeface="Oswald"/>
                <a:sym typeface="Oswald"/>
              </a:rPr>
            </a:fld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" name="Footer Placeholder 0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9"/>
          <p:cNvSpPr txBox="1"/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Oswald"/>
                <a:ea typeface="Oswald"/>
                <a:cs typeface="Oswald"/>
                <a:sym typeface="Oswald"/>
              </a:rPr>
            </a:fld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371" name="Google Shape;371;p39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371588" y="285750"/>
            <a:ext cx="6400800" cy="4572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" name="Footer Placeholder 0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0"/>
          <p:cNvSpPr txBox="1"/>
          <p:nvPr>
            <p:ph type="title"/>
          </p:nvPr>
        </p:nvSpPr>
        <p:spPr>
          <a:xfrm>
            <a:off x="311785" y="274955"/>
            <a:ext cx="8520430" cy="745490"/>
          </a:xfrm>
          <a:prstGeom prst="rect">
            <a:avLst/>
          </a:prstGeom>
          <a:solidFill>
            <a:srgbClr val="FF9100"/>
          </a:solidFill>
          <a:ln w="3810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3200" b="1">
                <a:solidFill>
                  <a:schemeClr val="bg1"/>
                </a:solidFill>
              </a:rPr>
              <a:t>Characteristics of a Good SRS Document</a:t>
            </a:r>
            <a:endParaRPr lang="en-GB" sz="3200" b="1">
              <a:solidFill>
                <a:schemeClr val="bg1"/>
              </a:solidFill>
            </a:endParaRPr>
          </a:p>
        </p:txBody>
      </p:sp>
      <p:sp>
        <p:nvSpPr>
          <p:cNvPr id="377" name="Google Shape;377;p40"/>
          <p:cNvSpPr txBox="1"/>
          <p:nvPr>
            <p:ph type="body" idx="1"/>
          </p:nvPr>
        </p:nvSpPr>
        <p:spPr>
          <a:xfrm>
            <a:off x="311700" y="771475"/>
            <a:ext cx="8178600" cy="3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Char char="●"/>
            </a:pPr>
            <a:endParaRPr lang="en-GB" sz="2000" b="1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191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GB" sz="20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Correctness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: </a:t>
            </a:r>
            <a:b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— SRS is said to be perfect if it covers all the needs that are </a:t>
            </a:r>
            <a:r>
              <a:rPr lang="en-GB" sz="2000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truly expected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from the system.</a:t>
            </a:r>
            <a:endParaRPr lang="en-GB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7620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191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GB" sz="20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Completeness 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: </a:t>
            </a:r>
            <a:b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— Contains </a:t>
            </a:r>
            <a:r>
              <a:rPr lang="en-GB" sz="2000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all essential requirements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, whether relating to goals &amp; objectives, functionality, performance, design, constraints, attributes, or external interfaces.</a:t>
            </a:r>
            <a:b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— Contains definition of responses of the software to all realizable classes of input data in all available categories of situations.</a:t>
            </a:r>
            <a:b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— Involves</a:t>
            </a:r>
            <a:r>
              <a:rPr lang="en-GB" sz="2000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all stakeholders</a:t>
            </a:r>
            <a:endParaRPr lang="en-GB" sz="2000">
              <a:solidFill>
                <a:srgbClr val="C00000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378" name="Google Shape;378;p40"/>
          <p:cNvSpPr txBox="1"/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Oswald"/>
                <a:ea typeface="Oswald"/>
                <a:cs typeface="Oswald"/>
                <a:sym typeface="Oswald"/>
              </a:rPr>
            </a:fld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" name="Footer Placeholder 0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1"/>
          <p:cNvSpPr txBox="1"/>
          <p:nvPr>
            <p:ph type="title"/>
          </p:nvPr>
        </p:nvSpPr>
        <p:spPr>
          <a:xfrm>
            <a:off x="311785" y="187960"/>
            <a:ext cx="8520430" cy="805815"/>
          </a:xfrm>
          <a:prstGeom prst="rect">
            <a:avLst/>
          </a:prstGeom>
          <a:solidFill>
            <a:srgbClr val="FF9100"/>
          </a:solidFill>
          <a:ln w="3810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3200" b="1">
                <a:solidFill>
                  <a:schemeClr val="bg1"/>
                </a:solidFill>
              </a:rPr>
              <a:t>Characteristics of a Good SRS Document</a:t>
            </a:r>
            <a:endParaRPr lang="en-GB" sz="3200" b="1">
              <a:solidFill>
                <a:schemeClr val="bg1"/>
              </a:solidFill>
            </a:endParaRPr>
          </a:p>
        </p:txBody>
      </p:sp>
      <p:sp>
        <p:nvSpPr>
          <p:cNvPr id="384" name="Google Shape;384;p41"/>
          <p:cNvSpPr txBox="1"/>
          <p:nvPr>
            <p:ph type="body" idx="1"/>
          </p:nvPr>
        </p:nvSpPr>
        <p:spPr>
          <a:xfrm>
            <a:off x="311785" y="1115695"/>
            <a:ext cx="8178800" cy="344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191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GB" sz="20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Consistency 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: </a:t>
            </a:r>
            <a:b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— The use of </a:t>
            </a: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standard terms and definitions</a:t>
            </a:r>
            <a:r>
              <a:rPr lang="en-GB" sz="20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.</a:t>
            </a:r>
            <a:b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— The consistent application of</a:t>
            </a:r>
            <a:r>
              <a:rPr lang="en-GB" sz="2000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</a:t>
            </a: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business rules in all functionalities.</a:t>
            </a:r>
            <a:b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endParaRPr sz="2000" b="1">
              <a:solidFill>
                <a:srgbClr val="C00000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191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GB" sz="20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Unambiguity 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: </a:t>
            </a:r>
            <a:b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— Every fixed requirement has </a:t>
            </a: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only one interpretation</a:t>
            </a:r>
            <a:r>
              <a:rPr lang="en-GB" sz="20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.</a:t>
            </a:r>
            <a:br>
              <a:rPr lang="en-GB" sz="20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endParaRPr sz="2000" b="1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191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GB" sz="20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Modifiability 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: </a:t>
            </a:r>
            <a:b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— Should be capable to </a:t>
            </a: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quickly obtain changes</a:t>
            </a:r>
            <a:r>
              <a:rPr lang="en-GB" sz="20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to the system to some extent.</a:t>
            </a:r>
            <a:endParaRPr lang="en-GB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385" name="Google Shape;385;p41"/>
          <p:cNvSpPr txBox="1"/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Oswald"/>
                <a:ea typeface="Oswald"/>
                <a:cs typeface="Oswald"/>
                <a:sym typeface="Oswald"/>
              </a:rPr>
            </a:fld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" name="Footer Placeholder 0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2"/>
          <p:cNvSpPr txBox="1"/>
          <p:nvPr>
            <p:ph type="body" idx="1"/>
          </p:nvPr>
        </p:nvSpPr>
        <p:spPr>
          <a:xfrm>
            <a:off x="311785" y="1119505"/>
            <a:ext cx="8178800" cy="3442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191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GB" sz="20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Traceability 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: </a:t>
            </a:r>
            <a:b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— The </a:t>
            </a: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origin 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of each of the requirements is clear and it facilitates the referencing of each condition in future development.</a:t>
            </a:r>
            <a:b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191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GB" sz="20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Verifiability 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: </a:t>
            </a:r>
            <a:b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— There exists some cost-effective process that can </a:t>
            </a: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check 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whether the </a:t>
            </a: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final product meets the requirements.</a:t>
            </a:r>
            <a:b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191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GB" sz="20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Testability 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: </a:t>
            </a:r>
            <a:b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— Should be written in such a method that it is</a:t>
            </a: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simple to generate test cases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and test plans from the report.</a:t>
            </a:r>
            <a:endParaRPr lang="en-GB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392" name="Google Shape;392;p42"/>
          <p:cNvSpPr txBox="1"/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Oswald"/>
                <a:ea typeface="Oswald"/>
                <a:cs typeface="Oswald"/>
                <a:sym typeface="Oswald"/>
              </a:rPr>
            </a:fld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83" name="Google Shape;383;p41"/>
          <p:cNvSpPr txBox="1"/>
          <p:nvPr>
            <p:ph type="title"/>
          </p:nvPr>
        </p:nvSpPr>
        <p:spPr>
          <a:xfrm>
            <a:off x="311785" y="187960"/>
            <a:ext cx="8520430" cy="805815"/>
          </a:xfrm>
          <a:prstGeom prst="rect">
            <a:avLst/>
          </a:prstGeom>
          <a:solidFill>
            <a:srgbClr val="FF9100"/>
          </a:solidFill>
          <a:ln w="3810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3200" b="1">
                <a:solidFill>
                  <a:schemeClr val="bg1"/>
                </a:solidFill>
              </a:rPr>
              <a:t>Characteristics of a Good SRS Document</a:t>
            </a:r>
            <a:endParaRPr lang="en-GB" sz="3200" b="1">
              <a:solidFill>
                <a:schemeClr val="bg1"/>
              </a:solidFill>
            </a:endParaRPr>
          </a:p>
        </p:txBody>
      </p:sp>
      <p:sp>
        <p:nvSpPr>
          <p:cNvPr id="1" name="Footer Placeholder 0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3"/>
          <p:cNvSpPr txBox="1"/>
          <p:nvPr>
            <p:ph type="body" idx="1"/>
          </p:nvPr>
        </p:nvSpPr>
        <p:spPr>
          <a:xfrm>
            <a:off x="311785" y="1178560"/>
            <a:ext cx="817880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191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GB" sz="20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Comprehensibility 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: </a:t>
            </a:r>
            <a:b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— Written in such a way that the</a:t>
            </a: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customer understands.</a:t>
            </a:r>
            <a:b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191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GB" sz="20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Feasibility 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: </a:t>
            </a:r>
            <a:b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— Confirmed on</a:t>
            </a: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technical and operational feasibility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.</a:t>
            </a:r>
            <a:endParaRPr lang="en-GB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399" name="Google Shape;399;p43"/>
          <p:cNvSpPr txBox="1"/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Oswald"/>
                <a:ea typeface="Oswald"/>
                <a:cs typeface="Oswald"/>
                <a:sym typeface="Oswald"/>
              </a:rPr>
            </a:fld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83" name="Google Shape;383;p41"/>
          <p:cNvSpPr txBox="1"/>
          <p:nvPr>
            <p:ph type="title"/>
          </p:nvPr>
        </p:nvSpPr>
        <p:spPr>
          <a:xfrm>
            <a:off x="311785" y="187960"/>
            <a:ext cx="8520430" cy="805815"/>
          </a:xfrm>
          <a:prstGeom prst="rect">
            <a:avLst/>
          </a:prstGeom>
          <a:solidFill>
            <a:srgbClr val="FF9100"/>
          </a:solidFill>
          <a:ln w="3810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3200" b="1">
                <a:solidFill>
                  <a:schemeClr val="bg1"/>
                </a:solidFill>
              </a:rPr>
              <a:t>Characteristics of a Good SRS Document</a:t>
            </a:r>
            <a:endParaRPr lang="en-GB" sz="3200" b="1">
              <a:solidFill>
                <a:schemeClr val="bg1"/>
              </a:solidFill>
            </a:endParaRPr>
          </a:p>
        </p:txBody>
      </p:sp>
      <p:sp>
        <p:nvSpPr>
          <p:cNvPr id="1" name="Footer Placeholder 0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4"/>
          <p:cNvSpPr txBox="1"/>
          <p:nvPr>
            <p:ph type="body" idx="1"/>
          </p:nvPr>
        </p:nvSpPr>
        <p:spPr>
          <a:xfrm>
            <a:off x="83100" y="4687775"/>
            <a:ext cx="5998800" cy="42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References</a:t>
            </a:r>
            <a:endParaRPr sz="2000"/>
          </a:p>
        </p:txBody>
      </p:sp>
      <p:sp>
        <p:nvSpPr>
          <p:cNvPr id="405" name="Google Shape;405;p44"/>
          <p:cNvSpPr txBox="1"/>
          <p:nvPr/>
        </p:nvSpPr>
        <p:spPr>
          <a:xfrm>
            <a:off x="120550" y="147350"/>
            <a:ext cx="8853900" cy="44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verage"/>
              <a:buChar char="❏"/>
            </a:pPr>
            <a:r>
              <a:rPr lang="en-GB" sz="1600" u="sng">
                <a:solidFill>
                  <a:schemeClr val="hlink"/>
                </a:solidFill>
                <a:latin typeface="Average"/>
                <a:ea typeface="Average"/>
                <a:cs typeface="Average"/>
                <a:sym typeface="Average"/>
                <a:hlinkClick r:id="rId1"/>
              </a:rPr>
              <a:t>https://www.geeksforgeeks.org/software-requirement-specification-srs-format/</a:t>
            </a:r>
            <a:endParaRPr sz="16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verage"/>
              <a:buChar char="❏"/>
            </a:pPr>
            <a:r>
              <a:rPr lang="en-GB" sz="1600" u="sng">
                <a:solidFill>
                  <a:schemeClr val="hlink"/>
                </a:solidFill>
                <a:latin typeface="Average"/>
                <a:ea typeface="Average"/>
                <a:cs typeface="Average"/>
                <a:sym typeface="Average"/>
                <a:hlinkClick r:id="rId2"/>
              </a:rPr>
              <a:t>https://www.javatpoint.com/software-requirement-specifications</a:t>
            </a:r>
            <a:endParaRPr sz="16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verage"/>
              <a:buChar char="❏"/>
            </a:pPr>
            <a:endParaRPr sz="16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" name="Slide Number Placeholder 0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1836" y="1117283"/>
            <a:ext cx="2228850" cy="11501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4590" y="2173605"/>
            <a:ext cx="3595211" cy="2018824"/>
          </a:xfrm>
          <a:solidFill>
            <a:srgbClr val="FF9100"/>
          </a:solidFill>
          <a:ln w="76200">
            <a:solidFill>
              <a:schemeClr val="tx1"/>
            </a:solidFill>
          </a:ln>
        </p:spPr>
        <p:txBody>
          <a:bodyPr/>
          <a:p>
            <a:pPr algn="ctr"/>
            <a:r>
              <a:rPr lang="en-US" b="1">
                <a:solidFill>
                  <a:schemeClr val="bg1"/>
                </a:solidFill>
              </a:rPr>
              <a:t>Thank You!</a:t>
            </a:r>
            <a:br>
              <a:rPr lang="en-US" b="1">
                <a:solidFill>
                  <a:schemeClr val="bg1"/>
                </a:solidFill>
              </a:rPr>
            </a:b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sz="790"/>
              <a:t>Tasmin Sanjida, Lecturer, CSE, UIU</a:t>
            </a:r>
            <a:endParaRPr lang="en-US" sz="79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z="790" smtClean="0"/>
            </a:fld>
            <a:endParaRPr lang="en-US" sz="79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6065</Words>
  <Application>WPS Presentation</Application>
  <PresentationFormat/>
  <Paragraphs>187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3" baseType="lpstr">
      <vt:lpstr>Arial</vt:lpstr>
      <vt:lpstr>SimSun</vt:lpstr>
      <vt:lpstr>Wingdings</vt:lpstr>
      <vt:lpstr>Arial</vt:lpstr>
      <vt:lpstr>Calibri</vt:lpstr>
      <vt:lpstr>Comic Sans MS</vt:lpstr>
      <vt:lpstr>Oswald</vt:lpstr>
      <vt:lpstr>Average</vt:lpstr>
      <vt:lpstr>Oswald Light</vt:lpstr>
      <vt:lpstr>Siyam Rupali</vt:lpstr>
      <vt:lpstr>Microsoft YaHei</vt:lpstr>
      <vt:lpstr>Arial Unicode MS</vt:lpstr>
      <vt:lpstr>Simple Light</vt:lpstr>
      <vt:lpstr>Default Design</vt:lpstr>
      <vt:lpstr>System Design &amp; Diagrams  </vt:lpstr>
      <vt:lpstr>PowerPoint 演示文稿</vt:lpstr>
      <vt:lpstr>Software Requirement Specifications (SRS)</vt:lpstr>
      <vt:lpstr>Software Requirement Specifications (SRS)</vt:lpstr>
      <vt:lpstr>Structural Components of an SRS</vt:lpstr>
      <vt:lpstr>Components of an SRS</vt:lpstr>
      <vt:lpstr>Components of an SRS</vt:lpstr>
      <vt:lpstr>Components of an SRS</vt:lpstr>
      <vt:lpstr>Uses of an SRS</vt:lpstr>
      <vt:lpstr>Uses of an SRS</vt:lpstr>
      <vt:lpstr>Validation of an SRS Document</vt:lpstr>
      <vt:lpstr>Validation of an SRS Document</vt:lpstr>
      <vt:lpstr>PowerPoint 演示文稿</vt:lpstr>
      <vt:lpstr>Characteristics of a Good SRS Document</vt:lpstr>
      <vt:lpstr>Characteristics of a Good SRS Document</vt:lpstr>
      <vt:lpstr>Characteristics of a Good SRS Document</vt:lpstr>
      <vt:lpstr>Characteristics of a Good SRS Document</vt:lpstr>
      <vt:lpstr>PowerPoint 演示文稿</vt:lpstr>
      <vt:lpstr>Thank You!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3411 System Analysis and Design (SAD) Spring 2024</dc:title>
  <dc:creator/>
  <cp:lastModifiedBy>tasmin sanjida</cp:lastModifiedBy>
  <cp:revision>11</cp:revision>
  <dcterms:created xsi:type="dcterms:W3CDTF">2024-09-28T06:19:00Z</dcterms:created>
  <dcterms:modified xsi:type="dcterms:W3CDTF">2026-05-11T05:17:41Z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E8A8DDEDB5DF443A871541C3067A54CC_12</vt:lpwstr>
  </property>
  <property fmtid="{D5CDD505-2E9C-101B-9397-08002B2CF9AE}" pid="3" name="KSOProductBuildVer">
    <vt:lpwstr>1033-12.1.0.25862</vt:lpwstr>
  </property>
</Properties>
</file>